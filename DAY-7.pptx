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3"/>
  </p:handoutMasterIdLst>
  <p:sldIdLst>
    <p:sldId id="256" r:id="rId2"/>
    <p:sldId id="271" r:id="rId3"/>
    <p:sldId id="275" r:id="rId4"/>
    <p:sldId id="263" r:id="rId5"/>
    <p:sldId id="276" r:id="rId6"/>
    <p:sldId id="277" r:id="rId7"/>
    <p:sldId id="300" r:id="rId8"/>
    <p:sldId id="301" r:id="rId9"/>
    <p:sldId id="299" r:id="rId10"/>
    <p:sldId id="278" r:id="rId11"/>
    <p:sldId id="302" r:id="rId12"/>
    <p:sldId id="303" r:id="rId13"/>
    <p:sldId id="291" r:id="rId14"/>
    <p:sldId id="281" r:id="rId15"/>
    <p:sldId id="305" r:id="rId16"/>
    <p:sldId id="306" r:id="rId17"/>
    <p:sldId id="304" r:id="rId18"/>
    <p:sldId id="307" r:id="rId19"/>
    <p:sldId id="279" r:id="rId20"/>
    <p:sldId id="298" r:id="rId21"/>
    <p:sldId id="29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C916A6-A7CB-49A0-B5DE-E58CE8BE2769}">
          <p14:sldIdLst>
            <p14:sldId id="256"/>
            <p14:sldId id="271"/>
            <p14:sldId id="275"/>
            <p14:sldId id="263"/>
            <p14:sldId id="276"/>
            <p14:sldId id="277"/>
            <p14:sldId id="300"/>
            <p14:sldId id="301"/>
            <p14:sldId id="299"/>
            <p14:sldId id="278"/>
            <p14:sldId id="302"/>
            <p14:sldId id="303"/>
            <p14:sldId id="291"/>
            <p14:sldId id="281"/>
            <p14:sldId id="305"/>
            <p14:sldId id="306"/>
            <p14:sldId id="304"/>
            <p14:sldId id="307"/>
            <p14:sldId id="279"/>
            <p14:sldId id="298"/>
          </p14:sldIdLst>
        </p14:section>
        <p14:section name="Untitled Section" id="{DBFEFDD7-F4AB-401C-AB8C-2D1EBB250173}">
          <p14:sldIdLst>
            <p14:sldId id="29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A4F7"/>
    <a:srgbClr val="A20000"/>
    <a:srgbClr val="9900FF"/>
    <a:srgbClr val="004E9A"/>
    <a:srgbClr val="A759BF"/>
    <a:srgbClr val="30E846"/>
    <a:srgbClr val="7395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4660"/>
  </p:normalViewPr>
  <p:slideViewPr>
    <p:cSldViewPr snapToGrid="0">
      <p:cViewPr varScale="1">
        <p:scale>
          <a:sx n="83" d="100"/>
          <a:sy n="83" d="100"/>
        </p:scale>
        <p:origin x="595" y="67"/>
      </p:cViewPr>
      <p:guideLst/>
    </p:cSldViewPr>
  </p:slideViewPr>
  <p:notesTextViewPr>
    <p:cViewPr>
      <p:scale>
        <a:sx n="1" d="1"/>
        <a:sy n="1" d="1"/>
      </p:scale>
      <p:origin x="0" y="0"/>
    </p:cViewPr>
  </p:notesTextViewPr>
  <p:notesViewPr>
    <p:cSldViewPr snapToGrid="0">
      <p:cViewPr varScale="1">
        <p:scale>
          <a:sx n="66" d="100"/>
          <a:sy n="66" d="100"/>
        </p:scale>
        <p:origin x="3134"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C7CF46-16CC-4F1D-A73F-8028EA34CFCF}" type="datetimeFigureOut">
              <a:rPr lang="en-US" smtClean="0"/>
              <a:t>9/29/2025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8728C0-9F1A-41C0-B0F4-4A5BAD055F3E}" type="slidenum">
              <a:rPr lang="en-US" smtClean="0"/>
              <a:t>‹#›</a:t>
            </a:fld>
            <a:endParaRPr lang="en-US"/>
          </a:p>
        </p:txBody>
      </p:sp>
    </p:spTree>
    <p:extLst>
      <p:ext uri="{BB962C8B-B14F-4D97-AF65-F5344CB8AC3E}">
        <p14:creationId xmlns:p14="http://schemas.microsoft.com/office/powerpoint/2010/main" val="404768537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EC9BB-7BA1-C2E2-08F7-E9B991E0A6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436668-7E6B-DC74-A391-F759475A92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ED09445-4681-235F-45E1-C105829A1FA9}"/>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5" name="Footer Placeholder 4">
            <a:extLst>
              <a:ext uri="{FF2B5EF4-FFF2-40B4-BE49-F238E27FC236}">
                <a16:creationId xmlns:a16="http://schemas.microsoft.com/office/drawing/2014/main" id="{71252DBE-CD34-3185-5065-65FDA17438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34854E-A3EF-7A2E-ED83-9EB8AEE58BDF}"/>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534537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20D1-0B0F-F6E3-3DDA-EA212E0D6E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43441F-6702-1D94-E46C-BF01704B2C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CB5B4E-076F-094B-AC7C-E9977965E01B}"/>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5" name="Footer Placeholder 4">
            <a:extLst>
              <a:ext uri="{FF2B5EF4-FFF2-40B4-BE49-F238E27FC236}">
                <a16:creationId xmlns:a16="http://schemas.microsoft.com/office/drawing/2014/main" id="{97829E39-1CA3-2FC5-75A9-BC32DC89D5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6D2C9E-B0AE-ECDC-AAF8-DA083D887CA6}"/>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333476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F34C0-42B1-36F9-BA5D-35DFA09ACF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911016-1284-A9B6-6EB6-A7C85BB23F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24B462-7D5B-8397-F3F7-AB6CAB32B8A0}"/>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5" name="Footer Placeholder 4">
            <a:extLst>
              <a:ext uri="{FF2B5EF4-FFF2-40B4-BE49-F238E27FC236}">
                <a16:creationId xmlns:a16="http://schemas.microsoft.com/office/drawing/2014/main" id="{18447A9A-9AB1-AC4C-0A36-2F0972A75E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0F2101-B3BE-693A-DF52-921E27B27FC8}"/>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61772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7F7F-FA47-D945-3E4E-1647F026D27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D43026-CD98-71A7-D58D-8E5E519C7C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890915-8F50-CF9C-C529-63631D51C7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C54CE4B-FF34-DE0D-D63F-49EAF3EBFB96}"/>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6" name="Footer Placeholder 5">
            <a:extLst>
              <a:ext uri="{FF2B5EF4-FFF2-40B4-BE49-F238E27FC236}">
                <a16:creationId xmlns:a16="http://schemas.microsoft.com/office/drawing/2014/main" id="{82E21FAC-BE6A-7966-DD15-4AF0F6DD51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A4FFD5-95D3-2099-3692-E2AAF3708A04}"/>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2736504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4F08C-D868-D813-9FA5-99364AF583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19F069-3BDF-7E6F-8810-AEFA805502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F93DF2-B4DB-CB38-CAE7-65CF0DE681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D1A8943-83BF-368A-63DD-A7A39D7AB4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9CAB61-577F-B1C6-F94E-EFB414AAD3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41FA1C-2508-8A02-28A6-C7E647D86C2B}"/>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8" name="Footer Placeholder 7">
            <a:extLst>
              <a:ext uri="{FF2B5EF4-FFF2-40B4-BE49-F238E27FC236}">
                <a16:creationId xmlns:a16="http://schemas.microsoft.com/office/drawing/2014/main" id="{76FDBE76-E504-21EE-6BC0-89A28578E5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3161F1C-3E93-5D39-B1D6-7DACA9E8D374}"/>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811441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27E5-0F49-EAED-6AA1-E062137FE88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A888CF-FF6F-E546-4565-9EDD0C0BDD37}"/>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4" name="Footer Placeholder 3">
            <a:extLst>
              <a:ext uri="{FF2B5EF4-FFF2-40B4-BE49-F238E27FC236}">
                <a16:creationId xmlns:a16="http://schemas.microsoft.com/office/drawing/2014/main" id="{F7564864-3FC1-28F6-A7B2-5407FFB9124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A13137-FBC7-2E48-A795-3CF48DCFA49A}"/>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195488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C87730-5055-C93F-70D0-FB7BAC676E47}"/>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3" name="Footer Placeholder 2">
            <a:extLst>
              <a:ext uri="{FF2B5EF4-FFF2-40B4-BE49-F238E27FC236}">
                <a16:creationId xmlns:a16="http://schemas.microsoft.com/office/drawing/2014/main" id="{6B96B2FF-4DED-365D-797B-DAE9435008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761F098-9925-CB4E-C7C7-409AF1DF6447}"/>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3633447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453C-0EE6-8C54-5C6E-CF74F1E06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D8E7A2-6947-3F6A-060E-C621509117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7D8FE8B-E630-556C-112A-79F184EEBD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5CB0F9-3020-FDB9-063D-5E4F1595B5BB}"/>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6" name="Footer Placeholder 5">
            <a:extLst>
              <a:ext uri="{FF2B5EF4-FFF2-40B4-BE49-F238E27FC236}">
                <a16:creationId xmlns:a16="http://schemas.microsoft.com/office/drawing/2014/main" id="{FB6AA1D1-9ED6-9D44-A9A4-E68891FA2C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D9B8A0-62FC-FD8E-38B5-0E36D8ECD533}"/>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1977683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1EF46-71F5-4259-8B4A-28C89C4729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CB7237-AE50-D6E1-7C47-1F2B4FEBE0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90141B-92F0-61D8-A300-7FF5BA637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70085B-991A-87BF-8B80-331DFD8C3677}"/>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6" name="Footer Placeholder 5">
            <a:extLst>
              <a:ext uri="{FF2B5EF4-FFF2-40B4-BE49-F238E27FC236}">
                <a16:creationId xmlns:a16="http://schemas.microsoft.com/office/drawing/2014/main" id="{503A0180-4E1A-49A4-2082-1C08774A1A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9FE352-B921-34FF-A840-5C1BE5D770CB}"/>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1771959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B4D31-1F6D-94E0-DC0E-8A176959DB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D6F6BB-C4F9-5B0D-624B-0128B7BC0D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6219E-D177-7BE7-779E-A089C133E6FB}"/>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5" name="Footer Placeholder 4">
            <a:extLst>
              <a:ext uri="{FF2B5EF4-FFF2-40B4-BE49-F238E27FC236}">
                <a16:creationId xmlns:a16="http://schemas.microsoft.com/office/drawing/2014/main" id="{20863ED0-2617-6415-558B-F83DA73E98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24391E-A42D-52F2-D084-EA19EABC07C9}"/>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2892238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BD4E9A-EFBA-5E17-BA7C-880B08AA53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5138F7-7E29-1476-BBA1-35E67FFF92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D1740-907C-9C60-A927-BBB8863F3092}"/>
              </a:ext>
            </a:extLst>
          </p:cNvPr>
          <p:cNvSpPr>
            <a:spLocks noGrp="1"/>
          </p:cNvSpPr>
          <p:nvPr>
            <p:ph type="dt" sz="half" idx="10"/>
          </p:nvPr>
        </p:nvSpPr>
        <p:spPr/>
        <p:txBody>
          <a:bodyPr/>
          <a:lstStyle/>
          <a:p>
            <a:fld id="{C8F8A76F-738E-451C-9878-1764DCB73916}" type="datetimeFigureOut">
              <a:rPr lang="en-IN" smtClean="0"/>
              <a:t>29-09-2025</a:t>
            </a:fld>
            <a:endParaRPr lang="en-IN"/>
          </a:p>
        </p:txBody>
      </p:sp>
      <p:sp>
        <p:nvSpPr>
          <p:cNvPr id="5" name="Footer Placeholder 4">
            <a:extLst>
              <a:ext uri="{FF2B5EF4-FFF2-40B4-BE49-F238E27FC236}">
                <a16:creationId xmlns:a16="http://schemas.microsoft.com/office/drawing/2014/main" id="{EEDBC604-782B-8F75-1E1B-12449A2D95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2D46A2-B09C-62D9-4245-A1A4AD0FE3B6}"/>
              </a:ext>
            </a:extLst>
          </p:cNvPr>
          <p:cNvSpPr>
            <a:spLocks noGrp="1"/>
          </p:cNvSpPr>
          <p:nvPr>
            <p:ph type="sldNum" sz="quarter" idx="12"/>
          </p:nvPr>
        </p:nvSpPr>
        <p:spPr/>
        <p:txBody>
          <a:bodyPr/>
          <a:lstStyle/>
          <a:p>
            <a:fld id="{47810575-B76D-410D-B0EE-912553BDFF8A}" type="slidenum">
              <a:rPr lang="en-IN" smtClean="0"/>
              <a:t>‹#›</a:t>
            </a:fld>
            <a:endParaRPr lang="en-IN"/>
          </a:p>
        </p:txBody>
      </p:sp>
    </p:spTree>
    <p:extLst>
      <p:ext uri="{BB962C8B-B14F-4D97-AF65-F5344CB8AC3E}">
        <p14:creationId xmlns:p14="http://schemas.microsoft.com/office/powerpoint/2010/main" val="2776125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6BE455-A1CD-FE9D-B8A5-D954D730D5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C522BB-DE7D-AB0E-5C19-8A10FA51B5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6D306B-D6EF-D315-5B96-D9CBD1128F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F8A76F-738E-451C-9878-1764DCB73916}" type="datetimeFigureOut">
              <a:rPr lang="en-IN" smtClean="0"/>
              <a:t>29-09-2025</a:t>
            </a:fld>
            <a:endParaRPr lang="en-IN"/>
          </a:p>
        </p:txBody>
      </p:sp>
      <p:sp>
        <p:nvSpPr>
          <p:cNvPr id="5" name="Footer Placeholder 4">
            <a:extLst>
              <a:ext uri="{FF2B5EF4-FFF2-40B4-BE49-F238E27FC236}">
                <a16:creationId xmlns:a16="http://schemas.microsoft.com/office/drawing/2014/main" id="{79B68471-0252-D0E3-ADE4-8F2F789D33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DED81A-A688-BA94-4929-BA8744D1A3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810575-B76D-410D-B0EE-912553BDFF8A}" type="slidenum">
              <a:rPr lang="en-IN" smtClean="0"/>
              <a:t>‹#›</a:t>
            </a:fld>
            <a:endParaRPr lang="en-IN"/>
          </a:p>
        </p:txBody>
      </p:sp>
    </p:spTree>
    <p:extLst>
      <p:ext uri="{BB962C8B-B14F-4D97-AF65-F5344CB8AC3E}">
        <p14:creationId xmlns:p14="http://schemas.microsoft.com/office/powerpoint/2010/main" val="24997741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dev.mysql.com/downloads/mysql/8.0.html" TargetMode="External"/><Relationship Id="rId4" Type="http://schemas.openxmlformats.org/officeDocument/2006/relationships/hyperlink" Target="https://dev.mysql.com/downloads/workbench/"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2A8753B-A6ED-4603-6DA6-38913673FE8E}"/>
              </a:ext>
            </a:extLst>
          </p:cNvPr>
          <p:cNvSpPr>
            <a:spLocks noGrp="1"/>
          </p:cNvSpPr>
          <p:nvPr>
            <p:ph type="subTitle" idx="1"/>
          </p:nvPr>
        </p:nvSpPr>
        <p:spPr/>
        <p:txBody>
          <a:bodyPr/>
          <a:lstStyle/>
          <a:p>
            <a:r>
              <a:rPr lang="en-US" dirty="0"/>
              <a:t> </a:t>
            </a:r>
            <a:endParaRPr lang="en-IN" dirty="0"/>
          </a:p>
        </p:txBody>
      </p:sp>
      <p:pic>
        <p:nvPicPr>
          <p:cNvPr id="8" name="Picture 7">
            <a:extLst>
              <a:ext uri="{FF2B5EF4-FFF2-40B4-BE49-F238E27FC236}">
                <a16:creationId xmlns:a16="http://schemas.microsoft.com/office/drawing/2014/main" id="{9A63C058-E925-9401-9D90-C8C212E3A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2993" y="643255"/>
            <a:ext cx="9606013" cy="5571489"/>
          </a:xfrm>
          <a:prstGeom prst="rect">
            <a:avLst/>
          </a:prstGeom>
        </p:spPr>
      </p:pic>
    </p:spTree>
    <p:extLst>
      <p:ext uri="{BB962C8B-B14F-4D97-AF65-F5344CB8AC3E}">
        <p14:creationId xmlns:p14="http://schemas.microsoft.com/office/powerpoint/2010/main" val="5269200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4ADADF2-74A8-E0F8-309F-DB818DA073E8}"/>
              </a:ext>
            </a:extLst>
          </p:cNvPr>
          <p:cNvSpPr/>
          <p:nvPr/>
        </p:nvSpPr>
        <p:spPr>
          <a:xfrm>
            <a:off x="2105025" y="1420006"/>
            <a:ext cx="7981950" cy="4343400"/>
          </a:xfrm>
          <a:prstGeom prst="rect">
            <a:avLst/>
          </a:prstGeom>
          <a:solidFill>
            <a:srgbClr val="7030A0">
              <a:alpha val="38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600" dirty="0" smtClean="0">
                <a:solidFill>
                  <a:schemeClr val="tx1"/>
                </a:solidFill>
                <a:latin typeface="Book Antiqua" panose="02040602050305030304" pitchFamily="18" charset="0"/>
              </a:rPr>
              <a:t>DAY-7</a:t>
            </a:r>
            <a:endParaRPr lang="en-US" sz="9600" dirty="0">
              <a:solidFill>
                <a:schemeClr val="tx1"/>
              </a:solidFill>
              <a:latin typeface="Book Antiqua" panose="02040602050305030304" pitchFamily="18" charset="0"/>
            </a:endParaRPr>
          </a:p>
          <a:p>
            <a:pPr algn="ctr"/>
            <a:r>
              <a:rPr lang="en-US" sz="4800" dirty="0">
                <a:solidFill>
                  <a:schemeClr val="tx1"/>
                </a:solidFill>
                <a:latin typeface="Book Antiqua" panose="02040602050305030304" pitchFamily="18" charset="0"/>
              </a:rPr>
              <a:t>FULL-STACK JAVA</a:t>
            </a:r>
            <a:endParaRPr lang="en-IN" dirty="0">
              <a:solidFill>
                <a:schemeClr val="tx1"/>
              </a:solidFill>
              <a:latin typeface="Book Antiqua" panose="02040602050305030304" pitchFamily="18" charset="0"/>
            </a:endParaRPr>
          </a:p>
        </p:txBody>
      </p:sp>
      <p:pic>
        <p:nvPicPr>
          <p:cNvPr id="7" name="Picture 6">
            <a:extLst>
              <a:ext uri="{FF2B5EF4-FFF2-40B4-BE49-F238E27FC236}">
                <a16:creationId xmlns:a16="http://schemas.microsoft.com/office/drawing/2014/main" id="{91CCBEEE-2D5A-F405-1409-EFACDAE78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0" y="177722"/>
            <a:ext cx="2141868" cy="1242284"/>
          </a:xfrm>
          <a:prstGeom prst="rect">
            <a:avLst/>
          </a:prstGeom>
        </p:spPr>
      </p:pic>
      <p:pic>
        <p:nvPicPr>
          <p:cNvPr id="8" name="Picture 7">
            <a:extLst>
              <a:ext uri="{FF2B5EF4-FFF2-40B4-BE49-F238E27FC236}">
                <a16:creationId xmlns:a16="http://schemas.microsoft.com/office/drawing/2014/main" id="{584098B9-46C4-C877-80FA-B18B9D123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99" y="63176"/>
            <a:ext cx="1442585" cy="1050516"/>
          </a:xfrm>
          <a:prstGeom prst="rect">
            <a:avLst/>
          </a:prstGeom>
        </p:spPr>
      </p:pic>
    </p:spTree>
    <p:extLst>
      <p:ext uri="{BB962C8B-B14F-4D97-AF65-F5344CB8AC3E}">
        <p14:creationId xmlns:p14="http://schemas.microsoft.com/office/powerpoint/2010/main" val="15193441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4ADADF2-74A8-E0F8-309F-DB818DA073E8}"/>
              </a:ext>
            </a:extLst>
          </p:cNvPr>
          <p:cNvSpPr/>
          <p:nvPr/>
        </p:nvSpPr>
        <p:spPr>
          <a:xfrm>
            <a:off x="1420016" y="1278119"/>
            <a:ext cx="8818614" cy="2334406"/>
          </a:xfrm>
          <a:prstGeom prst="rect">
            <a:avLst/>
          </a:prstGeom>
          <a:solidFill>
            <a:srgbClr val="63A4F7">
              <a:alpha val="38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smtClean="0">
                <a:solidFill>
                  <a:schemeClr val="tx1"/>
                </a:solidFill>
                <a:latin typeface="Baskerville Old Face" panose="02020602080505020303" pitchFamily="18" charset="0"/>
              </a:rPr>
              <a:t>Spring Data JPA and Database Integration</a:t>
            </a:r>
            <a:endParaRPr lang="en-IN" sz="3600" dirty="0">
              <a:solidFill>
                <a:schemeClr val="tx1"/>
              </a:solidFill>
              <a:latin typeface="Baskerville Old Face" panose="02020602080505020303" pitchFamily="18" charset="0"/>
            </a:endParaRPr>
          </a:p>
        </p:txBody>
      </p:sp>
      <p:pic>
        <p:nvPicPr>
          <p:cNvPr id="7" name="Picture 6">
            <a:extLst>
              <a:ext uri="{FF2B5EF4-FFF2-40B4-BE49-F238E27FC236}">
                <a16:creationId xmlns:a16="http://schemas.microsoft.com/office/drawing/2014/main" id="{91CCBEEE-2D5A-F405-1409-EFACDAE78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8400" y="177722"/>
            <a:ext cx="2141868" cy="1242284"/>
          </a:xfrm>
          <a:prstGeom prst="rect">
            <a:avLst/>
          </a:prstGeom>
        </p:spPr>
      </p:pic>
      <p:pic>
        <p:nvPicPr>
          <p:cNvPr id="8" name="Picture 7">
            <a:extLst>
              <a:ext uri="{FF2B5EF4-FFF2-40B4-BE49-F238E27FC236}">
                <a16:creationId xmlns:a16="http://schemas.microsoft.com/office/drawing/2014/main" id="{584098B9-46C4-C877-80FA-B18B9D123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899" y="63176"/>
            <a:ext cx="1442585" cy="1050516"/>
          </a:xfrm>
          <a:prstGeom prst="rect">
            <a:avLst/>
          </a:prstGeom>
        </p:spPr>
      </p:pic>
      <p:sp>
        <p:nvSpPr>
          <p:cNvPr id="2" name="TextBox 1">
            <a:extLst>
              <a:ext uri="{FF2B5EF4-FFF2-40B4-BE49-F238E27FC236}">
                <a16:creationId xmlns:a16="http://schemas.microsoft.com/office/drawing/2014/main" id="{A5221DED-AE81-B15E-FAC9-58EA1E24EF8C}"/>
              </a:ext>
            </a:extLst>
          </p:cNvPr>
          <p:cNvSpPr txBox="1"/>
          <p:nvPr/>
        </p:nvSpPr>
        <p:spPr>
          <a:xfrm>
            <a:off x="990300" y="4052530"/>
            <a:ext cx="11126764" cy="2677656"/>
          </a:xfrm>
          <a:prstGeom prst="rect">
            <a:avLst/>
          </a:prstGeom>
          <a:noFill/>
        </p:spPr>
        <p:txBody>
          <a:bodyPr wrap="none" rtlCol="0">
            <a:spAutoFit/>
          </a:bodyPr>
          <a:lstStyle/>
          <a:p>
            <a:r>
              <a:rPr lang="en-IN" sz="2800" dirty="0" smtClean="0">
                <a:latin typeface="Bookman Old Style" panose="02050604050505020204" pitchFamily="18" charset="0"/>
              </a:rPr>
              <a:t>-Introduction to database and Spring Data JPA.</a:t>
            </a:r>
          </a:p>
          <a:p>
            <a:r>
              <a:rPr lang="en-IN" sz="2800" dirty="0" smtClean="0">
                <a:latin typeface="Bookman Old Style" panose="02050604050505020204" pitchFamily="18" charset="0"/>
              </a:rPr>
              <a:t>-Configuring a relational database (</a:t>
            </a:r>
            <a:r>
              <a:rPr lang="en-IN" sz="2800" dirty="0" err="1" smtClean="0">
                <a:latin typeface="Bookman Old Style" panose="02050604050505020204" pitchFamily="18" charset="0"/>
              </a:rPr>
              <a:t>eg</a:t>
            </a:r>
            <a:r>
              <a:rPr lang="en-IN" sz="2800" dirty="0" smtClean="0">
                <a:latin typeface="Bookman Old Style" panose="02050604050505020204" pitchFamily="18" charset="0"/>
              </a:rPr>
              <a:t>. MySQL).</a:t>
            </a:r>
          </a:p>
          <a:p>
            <a:r>
              <a:rPr lang="en-IN" sz="2800" dirty="0" smtClean="0">
                <a:latin typeface="Bookman Old Style" panose="02050604050505020204" pitchFamily="18" charset="0"/>
              </a:rPr>
              <a:t>-Performing CRUD operations with Spring Data JPA.</a:t>
            </a:r>
          </a:p>
          <a:p>
            <a:r>
              <a:rPr lang="en-IN" sz="2800" dirty="0" smtClean="0">
                <a:latin typeface="Bookman Old Style" panose="02050604050505020204" pitchFamily="18" charset="0"/>
              </a:rPr>
              <a:t>-Introduction to Entity, Repository, and Spring Data Features.</a:t>
            </a:r>
          </a:p>
          <a:p>
            <a:r>
              <a:rPr lang="en-IN" sz="2800" dirty="0" smtClean="0">
                <a:latin typeface="Bookman Old Style" panose="02050604050505020204" pitchFamily="18" charset="0"/>
              </a:rPr>
              <a:t>-Introduction to Flyway for database migrations.</a:t>
            </a:r>
          </a:p>
          <a:p>
            <a:r>
              <a:rPr lang="en-IN" sz="2800" dirty="0" smtClean="0">
                <a:latin typeface="Bookman Old Style" panose="02050604050505020204" pitchFamily="18" charset="0"/>
              </a:rPr>
              <a:t>-Introduction to RESTful </a:t>
            </a:r>
            <a:r>
              <a:rPr lang="en-IN" sz="2800" smtClean="0">
                <a:latin typeface="Bookman Old Style" panose="02050604050505020204" pitchFamily="18" charset="0"/>
              </a:rPr>
              <a:t>web Services.</a:t>
            </a:r>
            <a:endParaRPr lang="en-IN" sz="2800" dirty="0" smtClean="0">
              <a:latin typeface="Bookman Old Style" panose="02050604050505020204" pitchFamily="18" charset="0"/>
            </a:endParaRPr>
          </a:p>
        </p:txBody>
      </p:sp>
    </p:spTree>
    <p:extLst>
      <p:ext uri="{BB962C8B-B14F-4D97-AF65-F5344CB8AC3E}">
        <p14:creationId xmlns:p14="http://schemas.microsoft.com/office/powerpoint/2010/main" val="10896289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Introduction Database</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2" name="Rectangle 1"/>
          <p:cNvSpPr/>
          <p:nvPr/>
        </p:nvSpPr>
        <p:spPr>
          <a:xfrm>
            <a:off x="434109" y="1416225"/>
            <a:ext cx="5403273" cy="5355312"/>
          </a:xfrm>
          <a:prstGeom prst="rect">
            <a:avLst/>
          </a:prstGeom>
        </p:spPr>
        <p:txBody>
          <a:bodyPr wrap="square">
            <a:spAutoFit/>
          </a:bodyPr>
          <a:lstStyle/>
          <a:p>
            <a:pPr algn="just" fontAlgn="ctr"/>
            <a:r>
              <a:rPr lang="en-US" dirty="0">
                <a:solidFill>
                  <a:srgbClr val="001D35"/>
                </a:solidFill>
                <a:latin typeface="Arial" panose="020B0604020202020204" pitchFamily="34" charset="0"/>
              </a:rPr>
              <a:t>A database is an organized collection of data, typically stored and accessed electronically from a computer system. Databases are designed to manage large amounts of information efficiently, allowing for easy storage, retrieval, modification, and deletion of data. They can be broadly categorized into two main types:</a:t>
            </a:r>
            <a:endParaRPr lang="en-US" dirty="0">
              <a:solidFill>
                <a:srgbClr val="0B57D0"/>
              </a:solidFill>
              <a:latin typeface="Arial" panose="020B0604020202020204" pitchFamily="34" charset="0"/>
            </a:endParaRPr>
          </a:p>
          <a:p>
            <a:pPr algn="just">
              <a:buFont typeface="Arial" panose="020B0604020202020204" pitchFamily="34" charset="0"/>
              <a:buChar char="•"/>
            </a:pPr>
            <a:r>
              <a:rPr lang="en-US" b="1" dirty="0">
                <a:solidFill>
                  <a:srgbClr val="001D35"/>
                </a:solidFill>
                <a:latin typeface="Arial" panose="020B0604020202020204" pitchFamily="34" charset="0"/>
              </a:rPr>
              <a:t>Relational Databases (SQL databases):</a:t>
            </a:r>
            <a:r>
              <a:rPr lang="en-US" dirty="0">
                <a:solidFill>
                  <a:srgbClr val="001D35"/>
                </a:solidFill>
                <a:latin typeface="Arial" panose="020B0604020202020204" pitchFamily="34" charset="0"/>
              </a:rPr>
              <a:t> </a:t>
            </a:r>
          </a:p>
          <a:p>
            <a:pPr algn="just">
              <a:buFont typeface="Arial" panose="020B0604020202020204" pitchFamily="34" charset="0"/>
              <a:buChar char="•"/>
            </a:pPr>
            <a:r>
              <a:rPr lang="en-US" dirty="0">
                <a:solidFill>
                  <a:srgbClr val="001D35"/>
                </a:solidFill>
                <a:latin typeface="Arial" panose="020B0604020202020204" pitchFamily="34" charset="0"/>
              </a:rPr>
              <a:t>These databases store data in tables with predefined schemas, where relationships between tables are established using foreign keys. Examples include MySQL, PostgreSQL, Oracle, and SQL Server.</a:t>
            </a:r>
          </a:p>
          <a:p>
            <a:pPr algn="just">
              <a:buFont typeface="Arial" panose="020B0604020202020204" pitchFamily="34" charset="0"/>
              <a:buChar char="•"/>
            </a:pPr>
            <a:r>
              <a:rPr lang="en-US" b="1" dirty="0">
                <a:solidFill>
                  <a:srgbClr val="001D35"/>
                </a:solidFill>
                <a:latin typeface="Arial" panose="020B0604020202020204" pitchFamily="34" charset="0"/>
              </a:rPr>
              <a:t>NoSQL Databases:</a:t>
            </a:r>
            <a:r>
              <a:rPr lang="en-US" dirty="0">
                <a:solidFill>
                  <a:srgbClr val="001D35"/>
                </a:solidFill>
                <a:latin typeface="Arial" panose="020B0604020202020204" pitchFamily="34" charset="0"/>
              </a:rPr>
              <a:t> </a:t>
            </a:r>
          </a:p>
          <a:p>
            <a:pPr algn="just">
              <a:buFont typeface="Arial" panose="020B0604020202020204" pitchFamily="34" charset="0"/>
              <a:buChar char="•"/>
            </a:pPr>
            <a:r>
              <a:rPr lang="en-US" dirty="0">
                <a:solidFill>
                  <a:srgbClr val="001D35"/>
                </a:solidFill>
                <a:latin typeface="Arial" panose="020B0604020202020204" pitchFamily="34" charset="0"/>
              </a:rPr>
              <a:t>These databases offer more flexible data models and are designed for specific data access patterns and scalability needs. Examples include MongoDB (document-oriented), Cassandra (column-family), and </a:t>
            </a:r>
            <a:r>
              <a:rPr lang="en-US" dirty="0" err="1">
                <a:solidFill>
                  <a:srgbClr val="001D35"/>
                </a:solidFill>
                <a:latin typeface="Arial" panose="020B0604020202020204" pitchFamily="34" charset="0"/>
              </a:rPr>
              <a:t>Redis</a:t>
            </a:r>
            <a:r>
              <a:rPr lang="en-US" dirty="0">
                <a:solidFill>
                  <a:srgbClr val="001D35"/>
                </a:solidFill>
                <a:latin typeface="Arial" panose="020B0604020202020204" pitchFamily="34" charset="0"/>
              </a:rPr>
              <a:t> (key-value).</a:t>
            </a:r>
            <a:endParaRPr lang="en-US" b="0" i="0" dirty="0">
              <a:solidFill>
                <a:srgbClr val="001D35"/>
              </a:solidFill>
              <a:effectLst/>
              <a:latin typeface="Arial" panose="020B0604020202020204" pitchFamily="34" charset="0"/>
            </a:endParaRPr>
          </a:p>
        </p:txBody>
      </p:sp>
      <p:sp>
        <p:nvSpPr>
          <p:cNvPr id="3" name="Rectangle 2"/>
          <p:cNvSpPr/>
          <p:nvPr/>
        </p:nvSpPr>
        <p:spPr>
          <a:xfrm>
            <a:off x="6188364" y="1416225"/>
            <a:ext cx="5421745" cy="2739211"/>
          </a:xfrm>
          <a:prstGeom prst="rect">
            <a:avLst/>
          </a:prstGeom>
        </p:spPr>
        <p:txBody>
          <a:bodyPr wrap="square">
            <a:spAutoFit/>
          </a:bodyPr>
          <a:lstStyle/>
          <a:p>
            <a:pPr algn="just" fontAlgn="ctr"/>
            <a:r>
              <a:rPr lang="en-US" sz="2800" b="1" dirty="0">
                <a:solidFill>
                  <a:srgbClr val="001D35"/>
                </a:solidFill>
                <a:latin typeface="Arial" panose="020B0604020202020204" pitchFamily="34" charset="0"/>
              </a:rPr>
              <a:t>Spring Data </a:t>
            </a:r>
            <a:r>
              <a:rPr lang="en-US" sz="2800" b="1" dirty="0" smtClean="0">
                <a:solidFill>
                  <a:srgbClr val="001D35"/>
                </a:solidFill>
                <a:latin typeface="Arial" panose="020B0604020202020204" pitchFamily="34" charset="0"/>
              </a:rPr>
              <a:t>JPA</a:t>
            </a:r>
          </a:p>
          <a:p>
            <a:pPr algn="just" fontAlgn="ctr"/>
            <a:endParaRPr lang="en-US" b="1" dirty="0">
              <a:solidFill>
                <a:srgbClr val="0B57D0"/>
              </a:solidFill>
              <a:latin typeface="Arial" panose="020B0604020202020204" pitchFamily="34" charset="0"/>
            </a:endParaRPr>
          </a:p>
          <a:p>
            <a:pPr algn="just"/>
            <a:r>
              <a:rPr lang="en-US" dirty="0">
                <a:solidFill>
                  <a:srgbClr val="001D35"/>
                </a:solidFill>
                <a:latin typeface="Arial" panose="020B0604020202020204" pitchFamily="34" charset="0"/>
              </a:rPr>
              <a:t>Spring Data JPA is a module within the larger Spring Data project that simplifies the implementation of data access layers for applications using the Java Persistence API (JPA). It significantly reduces boilerplate code and streamlines interaction with relational databases in Spring-based applications.</a:t>
            </a:r>
            <a:endParaRPr lang="en-US" b="0" i="0" dirty="0">
              <a:solidFill>
                <a:srgbClr val="001D35"/>
              </a:solidFill>
              <a:effectLst/>
              <a:latin typeface="Arial" panose="020B0604020202020204" pitchFamily="34" charset="0"/>
            </a:endParaRPr>
          </a:p>
        </p:txBody>
      </p:sp>
      <p:sp>
        <p:nvSpPr>
          <p:cNvPr id="5" name="Rectangle 4"/>
          <p:cNvSpPr/>
          <p:nvPr/>
        </p:nvSpPr>
        <p:spPr>
          <a:xfrm>
            <a:off x="5957888" y="4804530"/>
            <a:ext cx="6096000" cy="1477328"/>
          </a:xfrm>
          <a:prstGeom prst="rect">
            <a:avLst/>
          </a:prstGeom>
        </p:spPr>
        <p:style>
          <a:lnRef idx="3">
            <a:schemeClr val="lt1"/>
          </a:lnRef>
          <a:fillRef idx="1">
            <a:schemeClr val="accent5"/>
          </a:fillRef>
          <a:effectRef idx="1">
            <a:schemeClr val="accent5"/>
          </a:effectRef>
          <a:fontRef idx="minor">
            <a:schemeClr val="lt1"/>
          </a:fontRef>
        </p:style>
        <p:txBody>
          <a:bodyPr>
            <a:spAutoFit/>
          </a:bodyPr>
          <a:lstStyle/>
          <a:p>
            <a:pPr algn="just"/>
            <a:r>
              <a:rPr lang="en-US" dirty="0">
                <a:solidFill>
                  <a:srgbClr val="001D35"/>
                </a:solidFill>
                <a:latin typeface="Arial" panose="020B0604020202020204" pitchFamily="34" charset="0"/>
              </a:rPr>
              <a:t>In essence, Spring Data JPA acts as an abstraction layer over JPA, further simplifying database interactions in Spring applications by automating repository implementation and providing convenient features for common data access patterns.</a:t>
            </a:r>
            <a:endParaRPr lang="en-US" dirty="0"/>
          </a:p>
        </p:txBody>
      </p:sp>
    </p:spTree>
    <p:extLst>
      <p:ext uri="{BB962C8B-B14F-4D97-AF65-F5344CB8AC3E}">
        <p14:creationId xmlns:p14="http://schemas.microsoft.com/office/powerpoint/2010/main" val="17194202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smtClean="0">
                <a:latin typeface="Bookman Old Style" panose="02050604050505020204" pitchFamily="18" charset="0"/>
              </a:rPr>
              <a:t>Configuring RDBMS (MySQL)</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2" name="Rectangle 1"/>
          <p:cNvSpPr>
            <a:spLocks noChangeArrowheads="1"/>
          </p:cNvSpPr>
          <p:nvPr/>
        </p:nvSpPr>
        <p:spPr bwMode="auto">
          <a:xfrm>
            <a:off x="491477" y="1205390"/>
            <a:ext cx="10621818" cy="5478423"/>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lang="en-US" sz="2800" dirty="0" smtClean="0">
                <a:solidFill>
                  <a:srgbClr val="242424"/>
                </a:solidFill>
                <a:latin typeface="source-serif-pro"/>
              </a:rPr>
              <a:t>Download and install </a:t>
            </a:r>
            <a:r>
              <a:rPr lang="en-US" sz="2800" dirty="0" err="1" smtClean="0">
                <a:solidFill>
                  <a:srgbClr val="242424"/>
                </a:solidFill>
                <a:latin typeface="source-serif-pro"/>
              </a:rPr>
              <a:t>mysql</a:t>
            </a:r>
            <a:r>
              <a:rPr lang="en-US" sz="2800" dirty="0" smtClean="0">
                <a:solidFill>
                  <a:srgbClr val="242424"/>
                </a:solidFill>
                <a:latin typeface="source-serif-pro"/>
              </a:rPr>
              <a:t>-work bench.</a:t>
            </a:r>
          </a:p>
          <a:p>
            <a:pPr marL="0" marR="0" lvl="0" indent="0" defTabSz="914400" rtl="0" eaLnBrk="0" fontAlgn="base" latinLnBrk="0" hangingPunct="0">
              <a:lnSpc>
                <a:spcPct val="100000"/>
              </a:lnSpc>
              <a:spcBef>
                <a:spcPct val="0"/>
              </a:spcBef>
              <a:spcAft>
                <a:spcPct val="0"/>
              </a:spcAft>
              <a:buClrTx/>
              <a:buSzTx/>
              <a:buFontTx/>
              <a:buNone/>
              <a:tabLst/>
            </a:pPr>
            <a:endParaRPr lang="en-US" sz="2800" dirty="0" smtClean="0">
              <a:solidFill>
                <a:srgbClr val="242424"/>
              </a:solidFill>
              <a:latin typeface="source-serif-pro"/>
            </a:endParaRPr>
          </a:p>
          <a:p>
            <a:pPr marL="0" marR="0" lvl="0" indent="0" defTabSz="914400" rtl="0" eaLnBrk="0" fontAlgn="base" latinLnBrk="0" hangingPunct="0">
              <a:lnSpc>
                <a:spcPct val="100000"/>
              </a:lnSpc>
              <a:spcBef>
                <a:spcPct val="0"/>
              </a:spcBef>
              <a:spcAft>
                <a:spcPct val="0"/>
              </a:spcAft>
              <a:buClrTx/>
              <a:buSzTx/>
              <a:buFontTx/>
              <a:buNone/>
              <a:tabLst/>
            </a:pPr>
            <a:r>
              <a:rPr lang="en-US" sz="2800" dirty="0" smtClean="0">
                <a:solidFill>
                  <a:srgbClr val="242424"/>
                </a:solidFill>
                <a:latin typeface="source-serif-pro"/>
              </a:rPr>
              <a:t>Create database.</a:t>
            </a:r>
          </a:p>
          <a:p>
            <a:pPr marL="0" marR="0" lvl="0" indent="0" defTabSz="914400" rtl="0" eaLnBrk="0" fontAlgn="base" latinLnBrk="0" hangingPunct="0">
              <a:lnSpc>
                <a:spcPct val="100000"/>
              </a:lnSpc>
              <a:spcBef>
                <a:spcPct val="0"/>
              </a:spcBef>
              <a:spcAft>
                <a:spcPct val="0"/>
              </a:spcAft>
              <a:buClrTx/>
              <a:buSzTx/>
              <a:buFontTx/>
              <a:buNone/>
              <a:tabLst/>
            </a:pPr>
            <a:endParaRPr lang="en-US" sz="2800" dirty="0">
              <a:solidFill>
                <a:srgbClr val="242424"/>
              </a:solidFill>
              <a:latin typeface="source-serif-pro"/>
            </a:endParaRPr>
          </a:p>
          <a:p>
            <a:pPr lvl="0"/>
            <a:r>
              <a:rPr lang="en-US" dirty="0">
                <a:hlinkClick r:id="rId4"/>
              </a:rPr>
              <a:t>https://dev.mysql.com/downloads/workbench</a:t>
            </a:r>
            <a:r>
              <a:rPr lang="en-US" dirty="0" smtClean="0">
                <a:hlinkClick r:id="rId4"/>
              </a:rPr>
              <a:t>/</a:t>
            </a:r>
            <a:endParaRPr lang="en-US" dirty="0" smtClean="0"/>
          </a:p>
          <a:p>
            <a:pPr lvl="0"/>
            <a:endParaRPr lang="en-US" dirty="0"/>
          </a:p>
          <a:p>
            <a:pPr lvl="0"/>
            <a:r>
              <a:rPr lang="en-US" dirty="0">
                <a:hlinkClick r:id="rId5"/>
              </a:rPr>
              <a:t>https://</a:t>
            </a:r>
            <a:r>
              <a:rPr lang="en-US" dirty="0" smtClean="0">
                <a:hlinkClick r:id="rId5"/>
              </a:rPr>
              <a:t>dev.mysql.com/downloads/mysql/8.0.html</a:t>
            </a:r>
            <a:endParaRPr lang="en-US" dirty="0" smtClean="0"/>
          </a:p>
          <a:p>
            <a:pPr lvl="0"/>
            <a:endParaRPr lang="en-US" dirty="0"/>
          </a:p>
          <a:p>
            <a:pPr lvl="0"/>
            <a:endParaRPr lang="en-US" dirty="0" smtClean="0"/>
          </a:p>
          <a:p>
            <a:pPr lvl="0"/>
            <a:r>
              <a:rPr lang="en-US" dirty="0" smtClean="0"/>
              <a:t>Query:</a:t>
            </a:r>
          </a:p>
          <a:p>
            <a:pPr lvl="0"/>
            <a:endParaRPr lang="en-US" dirty="0"/>
          </a:p>
          <a:p>
            <a:pPr lvl="0"/>
            <a:r>
              <a:rPr lang="en-US" dirty="0" smtClean="0"/>
              <a:t>Create database </a:t>
            </a:r>
            <a:r>
              <a:rPr lang="en-US" dirty="0" err="1" smtClean="0"/>
              <a:t>databasename</a:t>
            </a:r>
            <a:r>
              <a:rPr lang="en-US" dirty="0" smtClean="0"/>
              <a:t>;</a:t>
            </a:r>
          </a:p>
          <a:p>
            <a:pPr lvl="0"/>
            <a:endParaRPr lang="en-US" dirty="0"/>
          </a:p>
          <a:p>
            <a:pPr lvl="0"/>
            <a:r>
              <a:rPr lang="en-US" dirty="0" smtClean="0"/>
              <a:t>Ex:</a:t>
            </a:r>
          </a:p>
          <a:p>
            <a:pPr lvl="0"/>
            <a:endParaRPr lang="en-US" dirty="0"/>
          </a:p>
          <a:p>
            <a:pPr lvl="0"/>
            <a:r>
              <a:rPr lang="en-US" dirty="0" smtClean="0"/>
              <a:t>Create database student;</a:t>
            </a:r>
            <a:endParaRPr lang="en-US" dirty="0"/>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smtClean="0">
              <a:ln>
                <a:noFill/>
              </a:ln>
              <a:solidFill>
                <a:srgbClr val="242424"/>
              </a:solidFill>
              <a:effectLst/>
              <a:latin typeface="source-serif-pro"/>
            </a:endParaRPr>
          </a:p>
        </p:txBody>
      </p:sp>
      <p:sp>
        <p:nvSpPr>
          <p:cNvPr id="7" name="Rectangle 6"/>
          <p:cNvSpPr>
            <a:spLocks noChangeArrowheads="1"/>
          </p:cNvSpPr>
          <p:nvPr/>
        </p:nvSpPr>
        <p:spPr bwMode="auto">
          <a:xfrm>
            <a:off x="5922097" y="2246643"/>
            <a:ext cx="5725391" cy="4062651"/>
          </a:xfrm>
          <a:prstGeom prst="rect">
            <a:avLst/>
          </a:prstGeom>
          <a:ln/>
          <a:extLst/>
        </p:spPr>
        <p:style>
          <a:lnRef idx="2">
            <a:schemeClr val="accent5">
              <a:shade val="50000"/>
            </a:schemeClr>
          </a:lnRef>
          <a:fillRef idx="1">
            <a:schemeClr val="accent5"/>
          </a:fillRef>
          <a:effectRef idx="0">
            <a:schemeClr val="accent5"/>
          </a:effectRef>
          <a:fontRef idx="minor">
            <a:schemeClr val="lt1"/>
          </a:fontRef>
        </p:style>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lang="en-US" altLang="en-US" sz="2800" dirty="0" smtClean="0">
                <a:solidFill>
                  <a:srgbClr val="242424"/>
                </a:solidFill>
                <a:latin typeface="source-serif-pro"/>
              </a:rPr>
              <a:t>Add dependencies in POM.xml file</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rgbClr val="242424"/>
              </a:solidFill>
              <a:effectLst/>
              <a:latin typeface="source-serif-pro"/>
            </a:endParaRPr>
          </a:p>
          <a:p>
            <a:r>
              <a:rPr lang="en-US" dirty="0"/>
              <a:t>&lt;dependency&gt;</a:t>
            </a:r>
          </a:p>
          <a:p>
            <a:r>
              <a:rPr lang="en-US" dirty="0"/>
              <a:t>&lt;</a:t>
            </a:r>
            <a:r>
              <a:rPr lang="en-US" dirty="0" err="1"/>
              <a:t>groupId</a:t>
            </a:r>
            <a:r>
              <a:rPr lang="en-US" dirty="0"/>
              <a:t>&gt;</a:t>
            </a:r>
            <a:r>
              <a:rPr lang="en-US" dirty="0" err="1"/>
              <a:t>org.springframework.boot</a:t>
            </a:r>
            <a:r>
              <a:rPr lang="en-US" dirty="0"/>
              <a:t>&lt;/</a:t>
            </a:r>
            <a:r>
              <a:rPr lang="en-US" dirty="0" err="1"/>
              <a:t>groupId</a:t>
            </a:r>
            <a:r>
              <a:rPr lang="en-US" dirty="0"/>
              <a:t>&gt;</a:t>
            </a:r>
          </a:p>
          <a:p>
            <a:r>
              <a:rPr lang="en-US" dirty="0"/>
              <a:t>&lt;</a:t>
            </a:r>
            <a:r>
              <a:rPr lang="en-US" dirty="0" err="1"/>
              <a:t>artifactId</a:t>
            </a:r>
            <a:r>
              <a:rPr lang="en-US" dirty="0"/>
              <a:t>&gt;spring-boot-starter-data-</a:t>
            </a:r>
            <a:r>
              <a:rPr lang="en-US" dirty="0" err="1"/>
              <a:t>jpa</a:t>
            </a:r>
            <a:r>
              <a:rPr lang="en-US" dirty="0"/>
              <a:t>&lt;/</a:t>
            </a:r>
            <a:r>
              <a:rPr lang="en-US" dirty="0" err="1"/>
              <a:t>artifactId</a:t>
            </a:r>
            <a:r>
              <a:rPr lang="en-US" dirty="0"/>
              <a:t>&gt;</a:t>
            </a:r>
          </a:p>
          <a:p>
            <a:r>
              <a:rPr lang="en-US" dirty="0"/>
              <a:t>&lt;/dependency</a:t>
            </a:r>
            <a:r>
              <a:rPr lang="en-US" dirty="0" smtClean="0"/>
              <a:t>&gt;</a:t>
            </a:r>
            <a:r>
              <a:rPr lang="en-US" dirty="0"/>
              <a:t/>
            </a:r>
            <a:br>
              <a:rPr lang="en-US" dirty="0"/>
            </a:br>
            <a:endParaRPr lang="en-US" dirty="0"/>
          </a:p>
          <a:p>
            <a:r>
              <a:rPr lang="en-US" dirty="0"/>
              <a:t>&lt;dependency&gt;</a:t>
            </a:r>
          </a:p>
          <a:p>
            <a:r>
              <a:rPr lang="en-US" dirty="0"/>
              <a:t>&lt;</a:t>
            </a:r>
            <a:r>
              <a:rPr lang="en-US" dirty="0" err="1"/>
              <a:t>groupId</a:t>
            </a:r>
            <a:r>
              <a:rPr lang="en-US" dirty="0"/>
              <a:t>&gt;</a:t>
            </a:r>
            <a:r>
              <a:rPr lang="en-US" dirty="0" err="1"/>
              <a:t>com.mysql</a:t>
            </a:r>
            <a:r>
              <a:rPr lang="en-US" dirty="0"/>
              <a:t>&lt;/</a:t>
            </a:r>
            <a:r>
              <a:rPr lang="en-US" dirty="0" err="1"/>
              <a:t>groupId</a:t>
            </a:r>
            <a:r>
              <a:rPr lang="en-US" dirty="0"/>
              <a:t>&gt;</a:t>
            </a:r>
          </a:p>
          <a:p>
            <a:r>
              <a:rPr lang="en-US" dirty="0"/>
              <a:t>&lt;</a:t>
            </a:r>
            <a:r>
              <a:rPr lang="en-US" dirty="0" err="1"/>
              <a:t>artifactId</a:t>
            </a:r>
            <a:r>
              <a:rPr lang="en-US" dirty="0"/>
              <a:t>&gt;</a:t>
            </a:r>
            <a:r>
              <a:rPr lang="en-US" dirty="0" err="1"/>
              <a:t>mysql</a:t>
            </a:r>
            <a:r>
              <a:rPr lang="en-US" dirty="0"/>
              <a:t>-connector-j&lt;/</a:t>
            </a:r>
            <a:r>
              <a:rPr lang="en-US" dirty="0" err="1"/>
              <a:t>artifactId</a:t>
            </a:r>
            <a:r>
              <a:rPr lang="en-US" dirty="0"/>
              <a:t>&gt;</a:t>
            </a:r>
          </a:p>
          <a:p>
            <a:r>
              <a:rPr lang="en-US" dirty="0"/>
              <a:t>&lt;scope&gt;runtime&lt;/scope&gt;</a:t>
            </a:r>
          </a:p>
          <a:p>
            <a:r>
              <a:rPr lang="en-US" dirty="0"/>
              <a:t>&lt;/dependency&gt;</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smtClean="0">
              <a:ln>
                <a:noFill/>
              </a:ln>
              <a:solidFill>
                <a:srgbClr val="242424"/>
              </a:solidFill>
              <a:effectLst/>
              <a:latin typeface="source-serif-pro"/>
            </a:endParaRPr>
          </a:p>
        </p:txBody>
      </p:sp>
    </p:spTree>
    <p:extLst>
      <p:ext uri="{BB962C8B-B14F-4D97-AF65-F5344CB8AC3E}">
        <p14:creationId xmlns:p14="http://schemas.microsoft.com/office/powerpoint/2010/main" val="22847881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Configure RDBMS</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2" name="Rectangle 1"/>
          <p:cNvSpPr>
            <a:spLocks noChangeArrowheads="1"/>
          </p:cNvSpPr>
          <p:nvPr/>
        </p:nvSpPr>
        <p:spPr bwMode="auto">
          <a:xfrm>
            <a:off x="342900" y="969623"/>
            <a:ext cx="10205027" cy="17183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50784"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1D35"/>
                </a:solidFill>
                <a:effectLst/>
                <a:cs typeface="Arial" panose="020B0604020202020204" pitchFamily="34" charset="0"/>
              </a:rPr>
              <a:t>Database Configuration: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smtClean="0">
                <a:ln>
                  <a:noFill/>
                </a:ln>
                <a:solidFill>
                  <a:srgbClr val="001D35"/>
                </a:solidFill>
                <a:effectLst/>
                <a:cs typeface="Arial" panose="020B0604020202020204" pitchFamily="34" charset="0"/>
              </a:rPr>
              <a:t>Configure your database connection details in </a:t>
            </a:r>
            <a:r>
              <a:rPr kumimoji="0" lang="en-US" altLang="en-US" sz="200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application.properties</a:t>
            </a:r>
            <a:endParaRPr kumimoji="0" lang="en-US" altLang="en-US" sz="200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1970088" y="1953280"/>
            <a:ext cx="7670800" cy="2554545"/>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r>
              <a:rPr lang="en-US" sz="2000" dirty="0"/>
              <a:t>spring.application.name=</a:t>
            </a:r>
            <a:r>
              <a:rPr lang="en-US" sz="2000" u="sng" dirty="0" err="1"/>
              <a:t>dbdemo</a:t>
            </a:r>
            <a:endParaRPr lang="en-US" sz="2000" dirty="0"/>
          </a:p>
          <a:p>
            <a:r>
              <a:rPr lang="en-US" sz="2000" dirty="0"/>
              <a:t>#database configuration</a:t>
            </a:r>
          </a:p>
          <a:p>
            <a:r>
              <a:rPr lang="en-US" sz="2000" dirty="0"/>
              <a:t>spring.datasource.url=</a:t>
            </a:r>
            <a:r>
              <a:rPr lang="en-US" sz="2000" u="sng" dirty="0" err="1"/>
              <a:t>jdbc</a:t>
            </a:r>
            <a:r>
              <a:rPr lang="en-US" sz="2000" dirty="0" err="1"/>
              <a:t>:</a:t>
            </a:r>
            <a:r>
              <a:rPr lang="en-US" sz="2000" u="sng" dirty="0" err="1"/>
              <a:t>mysql</a:t>
            </a:r>
            <a:r>
              <a:rPr lang="en-US" sz="2000" dirty="0"/>
              <a:t>://</a:t>
            </a:r>
            <a:r>
              <a:rPr lang="en-US" sz="2000" u="sng" dirty="0"/>
              <a:t>localhost</a:t>
            </a:r>
            <a:r>
              <a:rPr lang="en-US" sz="2000" dirty="0"/>
              <a:t>:3306/</a:t>
            </a:r>
            <a:r>
              <a:rPr lang="en-US" sz="2000" u="sng" dirty="0" err="1"/>
              <a:t>gowtham</a:t>
            </a:r>
            <a:endParaRPr lang="en-US" sz="2000" dirty="0"/>
          </a:p>
          <a:p>
            <a:r>
              <a:rPr lang="en-US" sz="2000" dirty="0" err="1"/>
              <a:t>spring.datasource.username</a:t>
            </a:r>
            <a:r>
              <a:rPr lang="en-US" sz="2000" dirty="0"/>
              <a:t>=root</a:t>
            </a:r>
          </a:p>
          <a:p>
            <a:r>
              <a:rPr lang="en-US" sz="2000" dirty="0" err="1" smtClean="0"/>
              <a:t>spring.datasource.password</a:t>
            </a:r>
            <a:r>
              <a:rPr lang="en-US" sz="2000" dirty="0" smtClean="0"/>
              <a:t>=12345</a:t>
            </a:r>
            <a:r>
              <a:rPr lang="en-US" sz="2000" dirty="0"/>
              <a:t/>
            </a:r>
            <a:br>
              <a:rPr lang="en-US" sz="2000" dirty="0"/>
            </a:br>
            <a:endParaRPr lang="en-US" sz="2000" dirty="0"/>
          </a:p>
          <a:p>
            <a:r>
              <a:rPr lang="en-US" sz="2000" dirty="0"/>
              <a:t>#</a:t>
            </a:r>
            <a:r>
              <a:rPr lang="en-US" sz="2000" u="sng" dirty="0"/>
              <a:t>hibernate</a:t>
            </a:r>
            <a:r>
              <a:rPr lang="en-US" sz="2000" dirty="0"/>
              <a:t> configuration</a:t>
            </a:r>
          </a:p>
          <a:p>
            <a:r>
              <a:rPr lang="en-US" sz="2000" dirty="0" err="1" smtClean="0"/>
              <a:t>spring.jpa.hibernate.ddl</a:t>
            </a:r>
            <a:r>
              <a:rPr lang="en-US" sz="2000" dirty="0" smtClean="0"/>
              <a:t>-auto=update</a:t>
            </a:r>
            <a:endParaRPr lang="en-US" sz="2000" dirty="0"/>
          </a:p>
        </p:txBody>
      </p:sp>
      <p:sp>
        <p:nvSpPr>
          <p:cNvPr id="7" name="Rectangle 6"/>
          <p:cNvSpPr/>
          <p:nvPr/>
        </p:nvSpPr>
        <p:spPr>
          <a:xfrm>
            <a:off x="579120" y="4617025"/>
            <a:ext cx="10647680" cy="203132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r>
              <a:rPr lang="en-US" dirty="0"/>
              <a:t> # Database connection    spring.datasource.url=</a:t>
            </a:r>
            <a:r>
              <a:rPr lang="en-US" dirty="0" err="1"/>
              <a:t>jdbc:mysql</a:t>
            </a:r>
            <a:r>
              <a:rPr lang="en-US" dirty="0"/>
              <a:t>://localhost:3306/</a:t>
            </a:r>
            <a:r>
              <a:rPr lang="en-US" dirty="0" err="1"/>
              <a:t>your_database_name?useSSL</a:t>
            </a:r>
            <a:r>
              <a:rPr lang="en-US" dirty="0"/>
              <a:t>=</a:t>
            </a:r>
            <a:r>
              <a:rPr lang="en-US" dirty="0" err="1"/>
              <a:t>false&amp;serverTimezone</a:t>
            </a:r>
            <a:r>
              <a:rPr lang="en-US" dirty="0"/>
              <a:t>=UTC    </a:t>
            </a:r>
            <a:r>
              <a:rPr lang="en-US" dirty="0" err="1"/>
              <a:t>spring.datasource.username</a:t>
            </a:r>
            <a:r>
              <a:rPr lang="en-US" dirty="0"/>
              <a:t>=</a:t>
            </a:r>
            <a:r>
              <a:rPr lang="en-US" dirty="0" err="1"/>
              <a:t>your_username</a:t>
            </a:r>
            <a:r>
              <a:rPr lang="en-US" dirty="0"/>
              <a:t>    </a:t>
            </a:r>
            <a:endParaRPr lang="en-US" dirty="0" smtClean="0"/>
          </a:p>
          <a:p>
            <a:r>
              <a:rPr lang="en-US" dirty="0" err="1" smtClean="0"/>
              <a:t>spring.datasource.password</a:t>
            </a:r>
            <a:r>
              <a:rPr lang="en-US" dirty="0" smtClean="0"/>
              <a:t>=</a:t>
            </a:r>
            <a:r>
              <a:rPr lang="en-US" dirty="0" err="1" smtClean="0"/>
              <a:t>your_password</a:t>
            </a:r>
            <a:r>
              <a:rPr lang="en-US" dirty="0" smtClean="0"/>
              <a:t>    </a:t>
            </a:r>
          </a:p>
          <a:p>
            <a:r>
              <a:rPr lang="en-US" dirty="0" err="1" smtClean="0"/>
              <a:t>spring.datasource.driver</a:t>
            </a:r>
            <a:r>
              <a:rPr lang="en-US" dirty="0" smtClean="0"/>
              <a:t>-class-name=</a:t>
            </a:r>
            <a:r>
              <a:rPr lang="en-US" dirty="0" err="1" smtClean="0"/>
              <a:t>com.mysql.cj.jdbc.Driver</a:t>
            </a:r>
            <a:r>
              <a:rPr lang="en-US" dirty="0" smtClean="0"/>
              <a:t>   </a:t>
            </a:r>
          </a:p>
          <a:p>
            <a:r>
              <a:rPr lang="en-US" dirty="0" smtClean="0"/>
              <a:t># </a:t>
            </a:r>
            <a:r>
              <a:rPr lang="en-US" dirty="0"/>
              <a:t>Hibernate DDL Auto  </a:t>
            </a:r>
            <a:endParaRPr lang="en-US" dirty="0" smtClean="0"/>
          </a:p>
          <a:p>
            <a:r>
              <a:rPr lang="en-US" dirty="0" smtClean="0"/>
              <a:t> </a:t>
            </a:r>
            <a:r>
              <a:rPr lang="en-US" dirty="0" err="1"/>
              <a:t>spring.jpa.hibernate.ddl</a:t>
            </a:r>
            <a:r>
              <a:rPr lang="en-US" dirty="0"/>
              <a:t>-auto=update    # Or 'create', 'create-drop', 'validate', 'none'</a:t>
            </a:r>
          </a:p>
        </p:txBody>
      </p:sp>
    </p:spTree>
    <p:extLst>
      <p:ext uri="{BB962C8B-B14F-4D97-AF65-F5344CB8AC3E}">
        <p14:creationId xmlns:p14="http://schemas.microsoft.com/office/powerpoint/2010/main" val="39960066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Introduction: Entity</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1"/>
          <p:cNvSpPr>
            <a:spLocks noChangeArrowheads="1"/>
          </p:cNvSpPr>
          <p:nvPr/>
        </p:nvSpPr>
        <p:spPr bwMode="auto">
          <a:xfrm>
            <a:off x="278435" y="1148037"/>
            <a:ext cx="11054106" cy="54245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Entities:</a:t>
            </a:r>
            <a:endParaRPr kumimoji="0" lang="en-US" altLang="en-US" sz="1200" b="0" i="0" u="none" strike="noStrike" cap="none" normalizeH="0" baseline="0" dirty="0" smtClean="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Definition:</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An entity in Spring Data (specifically Spring Data JPA) represents a persistence-aware domain object that directly maps to a table in a relational database. Each instance of an entity corresponds to a row in that table.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Annotations:</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Entities are typically marked with the </a:t>
            </a:r>
            <a:r>
              <a:rPr kumimoji="0" lang="en-US" altLang="en-US" sz="16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@Entity</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annotation. Key properties within the entity are annotated with </a:t>
            </a:r>
            <a:r>
              <a:rPr kumimoji="0" lang="en-US" altLang="en-US" sz="16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@Id</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to designate the primary key and </a:t>
            </a:r>
            <a:r>
              <a:rPr kumimoji="0" lang="en-US" altLang="en-US" sz="16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6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GeneratedValue</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for automatic ID generation.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Purpose:</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Entities allow developers to interact with database data using object-oriented principles, abstracting away direct SQL interactions. </a:t>
            </a:r>
          </a:p>
        </p:txBody>
      </p:sp>
    </p:spTree>
    <p:extLst>
      <p:ext uri="{BB962C8B-B14F-4D97-AF65-F5344CB8AC3E}">
        <p14:creationId xmlns:p14="http://schemas.microsoft.com/office/powerpoint/2010/main" val="29958052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Introduction: Repository</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5" name="Rectangle 2"/>
          <p:cNvSpPr>
            <a:spLocks noChangeArrowheads="1"/>
          </p:cNvSpPr>
          <p:nvPr/>
        </p:nvSpPr>
        <p:spPr bwMode="auto">
          <a:xfrm>
            <a:off x="453737" y="0"/>
            <a:ext cx="11211791" cy="64709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Definition:</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Repositories are interfaces in Spring Data that act as data access objects (DAOs). They provide a layer of abstraction over the underlying persistence mechanism, allowing you to perform CRUD (Create, Read, Update, Delete) operations without writing explicit SQL or boilerplate code.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Inheritance Hierarchy:</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Spring Data provides a hierarchy of repository interfaces. </a:t>
            </a:r>
            <a:r>
              <a:rPr kumimoji="0" lang="en-US" altLang="en-US" sz="16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Repository</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is the base marker interface, followed by </a:t>
            </a:r>
            <a:r>
              <a:rPr kumimoji="0" lang="en-US" altLang="en-US" sz="16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CrudRepository</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(offering basic CRUD operations) and </a:t>
            </a:r>
            <a:r>
              <a:rPr kumimoji="0" lang="en-US" altLang="en-US" sz="16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JpaRepository</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(extending </a:t>
            </a:r>
            <a:r>
              <a:rPr kumimoji="0" lang="en-US" altLang="en-US" sz="16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PagingAndSortingRepository</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and </a:t>
            </a:r>
            <a:r>
              <a:rPr kumimoji="0" lang="en-US" altLang="en-US" sz="16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CrudRepository</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with JPA-specific features like flushing and batch operations).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Derived Query Methods:</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A key feature of Spring Data repositories is the ability to define custom query methods simply by declaring methods with specific naming conventions (e.g., </a:t>
            </a:r>
            <a:r>
              <a:rPr kumimoji="0" lang="en-US" altLang="en-US" sz="16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findByNameAndEmail</a:t>
            </a:r>
            <a:r>
              <a:rPr kumimoji="0" lang="en-US" altLang="en-US" sz="16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(String name, String email)</a:t>
            </a: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Spring Data automatically generates the corresponding queries.</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50657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2">
            <a:extLst>
              <a:ext uri="{FF2B5EF4-FFF2-40B4-BE49-F238E27FC236}">
                <a16:creationId xmlns:a16="http://schemas.microsoft.com/office/drawing/2014/main" id="{092B9727-BA41-333F-B82C-D2F2016722A9}"/>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Key features and concepts of Spring Data JPA</a:t>
            </a:r>
            <a:endParaRPr lang="en-IN" sz="3200" dirty="0">
              <a:latin typeface="Bookman Old Style" panose="02050604050505020204" pitchFamily="18" charset="0"/>
            </a:endParaRPr>
          </a:p>
        </p:txBody>
      </p:sp>
      <p:sp>
        <p:nvSpPr>
          <p:cNvPr id="5" name="Rectangle 1"/>
          <p:cNvSpPr>
            <a:spLocks noChangeArrowheads="1"/>
          </p:cNvSpPr>
          <p:nvPr/>
        </p:nvSpPr>
        <p:spPr bwMode="auto">
          <a:xfrm>
            <a:off x="258128" y="1223517"/>
            <a:ext cx="11094720" cy="51782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Repository abstraction:</a:t>
            </a: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Spring Data JPA automatically generates repository implementations at runtime based on defined interfaces, eliminating the need to manually write CRUD (Create, Read, Update, Delete) operations.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Derived query methods:</a:t>
            </a: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Developers can define custom query methods in repository interfaces by simply following specific naming conventions (e.g., </a:t>
            </a:r>
            <a:r>
              <a:rPr kumimoji="0" lang="en-US" altLang="en-US" sz="12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findByLastNameAndFirstName</a:t>
            </a:r>
            <a:r>
              <a:rPr kumimoji="0" lang="en-US" altLang="en-US" sz="12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(String </a:t>
            </a:r>
            <a:r>
              <a:rPr kumimoji="0" lang="en-US" altLang="en-US" sz="12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lastName</a:t>
            </a:r>
            <a:r>
              <a:rPr kumimoji="0" lang="en-US" altLang="en-US" sz="12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 String </a:t>
            </a:r>
            <a:r>
              <a:rPr kumimoji="0" lang="en-US" altLang="en-US" sz="12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firstName</a:t>
            </a:r>
            <a:r>
              <a:rPr kumimoji="0" lang="en-US" altLang="en-US" sz="12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and Spring Data JPA will automatically generate the corresponding queries.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Pagination and sorting:</a:t>
            </a: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It provides built-in support for pagination and sorting of query results, making it easy to handle large datasets.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Integration with JPA providers:</a:t>
            </a: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While it works with any JPA provider, it commonly uses Hibernate as the default.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Reduced boilerplate:</a:t>
            </a: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It significantly reduces the amount of code required for data access, allowing developers to focus more on business logic.</a:t>
            </a:r>
          </a:p>
        </p:txBody>
      </p:sp>
    </p:spTree>
    <p:extLst>
      <p:ext uri="{BB962C8B-B14F-4D97-AF65-F5344CB8AC3E}">
        <p14:creationId xmlns:p14="http://schemas.microsoft.com/office/powerpoint/2010/main" val="36709111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smtClean="0">
                <a:solidFill>
                  <a:schemeClr val="tx1"/>
                </a:solidFill>
                <a:latin typeface="Baskerville Old Face" panose="02020602080505020303" pitchFamily="18" charset="0"/>
              </a:rPr>
              <a:t>Perfoming</a:t>
            </a:r>
            <a:r>
              <a:rPr lang="en-US" sz="3200" dirty="0" smtClean="0">
                <a:solidFill>
                  <a:schemeClr val="tx1"/>
                </a:solidFill>
                <a:latin typeface="Baskerville Old Face" panose="02020602080505020303" pitchFamily="18" charset="0"/>
              </a:rPr>
              <a:t> CURD: Model File (</a:t>
            </a:r>
            <a:r>
              <a:rPr lang="en-US" sz="3200" dirty="0" err="1" smtClean="0">
                <a:solidFill>
                  <a:schemeClr val="tx1"/>
                </a:solidFill>
                <a:latin typeface="Baskerville Old Face" panose="02020602080505020303" pitchFamily="18" charset="0"/>
              </a:rPr>
              <a:t>Entiry</a:t>
            </a:r>
            <a:r>
              <a:rPr lang="en-US" sz="3200" dirty="0" smtClean="0">
                <a:solidFill>
                  <a:schemeClr val="tx1"/>
                </a:solidFill>
                <a:latin typeface="Baskerville Old Face" panose="02020602080505020303" pitchFamily="18" charset="0"/>
              </a:rPr>
              <a:t>)</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2" name="Picture 1"/>
          <p:cNvPicPr>
            <a:picLocks noChangeAspect="1"/>
          </p:cNvPicPr>
          <p:nvPr/>
        </p:nvPicPr>
        <p:blipFill rotWithShape="1">
          <a:blip r:embed="rId4"/>
          <a:srcRect r="6819" b="6454"/>
          <a:stretch/>
        </p:blipFill>
        <p:spPr>
          <a:xfrm>
            <a:off x="1236980" y="1140460"/>
            <a:ext cx="9441180" cy="5331460"/>
          </a:xfrm>
          <a:prstGeom prst="rect">
            <a:avLst/>
          </a:prstGeom>
        </p:spPr>
      </p:pic>
      <p:sp>
        <p:nvSpPr>
          <p:cNvPr id="7" name="TextBox 6"/>
          <p:cNvSpPr txBox="1"/>
          <p:nvPr/>
        </p:nvSpPr>
        <p:spPr>
          <a:xfrm>
            <a:off x="8239760" y="2529840"/>
            <a:ext cx="3586480" cy="646331"/>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smtClean="0"/>
              <a:t>Changing table name in </a:t>
            </a:r>
            <a:r>
              <a:rPr lang="en-US" dirty="0" err="1" smtClean="0"/>
              <a:t>mysql</a:t>
            </a:r>
            <a:endParaRPr lang="en-US" dirty="0" smtClean="0"/>
          </a:p>
          <a:p>
            <a:r>
              <a:rPr lang="en-US" dirty="0" smtClean="0"/>
              <a:t>@Table(name=“products”)</a:t>
            </a:r>
            <a:endParaRPr lang="en-US" dirty="0"/>
          </a:p>
        </p:txBody>
      </p:sp>
      <p:sp>
        <p:nvSpPr>
          <p:cNvPr id="9" name="TextBox 8"/>
          <p:cNvSpPr txBox="1"/>
          <p:nvPr/>
        </p:nvSpPr>
        <p:spPr>
          <a:xfrm>
            <a:off x="6120448" y="4951183"/>
            <a:ext cx="5933440" cy="132343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en-US" sz="1600" dirty="0"/>
              <a:t>@Column(name = "username", unique = true, </a:t>
            </a:r>
            <a:r>
              <a:rPr lang="en-US" sz="1600" dirty="0" err="1"/>
              <a:t>nullable</a:t>
            </a:r>
            <a:r>
              <a:rPr lang="en-US" sz="1600" dirty="0"/>
              <a:t> = false)</a:t>
            </a:r>
            <a:br>
              <a:rPr lang="en-US" sz="1600" dirty="0"/>
            </a:br>
            <a:r>
              <a:rPr lang="en-US" sz="1600" dirty="0"/>
              <a:t>private String username;</a:t>
            </a:r>
            <a:br>
              <a:rPr lang="en-US" sz="1600" dirty="0"/>
            </a:br>
            <a:r>
              <a:rPr lang="en-US" sz="1600" dirty="0"/>
              <a:t/>
            </a:r>
            <a:br>
              <a:rPr lang="en-US" sz="1600" dirty="0"/>
            </a:br>
            <a:r>
              <a:rPr lang="en-US" sz="1600" dirty="0"/>
              <a:t>@Column(name = "email", </a:t>
            </a:r>
            <a:r>
              <a:rPr lang="en-US" sz="1600" dirty="0" err="1"/>
              <a:t>nullable</a:t>
            </a:r>
            <a:r>
              <a:rPr lang="en-US" sz="1600" dirty="0"/>
              <a:t> = false)</a:t>
            </a:r>
            <a:br>
              <a:rPr lang="en-US" sz="1600" dirty="0"/>
            </a:br>
            <a:r>
              <a:rPr lang="en-US" sz="1600" dirty="0"/>
              <a:t>private String email;</a:t>
            </a:r>
          </a:p>
        </p:txBody>
      </p:sp>
    </p:spTree>
    <p:extLst>
      <p:ext uri="{BB962C8B-B14F-4D97-AF65-F5344CB8AC3E}">
        <p14:creationId xmlns:p14="http://schemas.microsoft.com/office/powerpoint/2010/main" val="1935384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97527" y="1280117"/>
            <a:ext cx="9916235" cy="5577883"/>
          </a:xfrm>
          <a:prstGeom prst="rect">
            <a:avLst/>
          </a:prstGeom>
        </p:spPr>
      </p:pic>
      <p:sp>
        <p:nvSpPr>
          <p:cNvPr id="3" name="Rectangle 2">
            <a:extLst>
              <a:ext uri="{FF2B5EF4-FFF2-40B4-BE49-F238E27FC236}">
                <a16:creationId xmlns:a16="http://schemas.microsoft.com/office/drawing/2014/main" id="{CA17B3E7-0816-C9EA-10A3-7D6463FCF1B6}"/>
              </a:ext>
            </a:extLst>
          </p:cNvPr>
          <p:cNvSpPr/>
          <p:nvPr/>
        </p:nvSpPr>
        <p:spPr>
          <a:xfrm>
            <a:off x="2166938" y="64652"/>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err="1" smtClean="0">
                <a:solidFill>
                  <a:schemeClr val="tx1"/>
                </a:solidFill>
                <a:latin typeface="Baskerville Old Face" panose="02020602080505020303" pitchFamily="18" charset="0"/>
              </a:rPr>
              <a:t>Perfoming</a:t>
            </a:r>
            <a:r>
              <a:rPr lang="en-US" sz="3200" dirty="0" smtClean="0">
                <a:solidFill>
                  <a:schemeClr val="tx1"/>
                </a:solidFill>
                <a:latin typeface="Baskerville Old Face" panose="02020602080505020303" pitchFamily="18" charset="0"/>
              </a:rPr>
              <a:t> CURD: Model File (</a:t>
            </a:r>
            <a:r>
              <a:rPr lang="en-US" sz="3200" dirty="0" err="1" smtClean="0">
                <a:solidFill>
                  <a:schemeClr val="tx1"/>
                </a:solidFill>
                <a:latin typeface="Baskerville Old Face" panose="02020602080505020303" pitchFamily="18" charset="0"/>
              </a:rPr>
              <a:t>Entiry</a:t>
            </a:r>
            <a:r>
              <a:rPr lang="en-US" sz="3200" dirty="0" smtClean="0">
                <a:solidFill>
                  <a:schemeClr val="tx1"/>
                </a:solidFill>
                <a:latin typeface="Baskerville Old Face" panose="02020602080505020303" pitchFamily="18" charset="0"/>
              </a:rPr>
              <a:t>)</a:t>
            </a:r>
            <a:endParaRPr lang="en-IN" sz="3200" dirty="0">
              <a:latin typeface="Bookman Old Style" panose="02050604050505020204" pitchFamily="18" charset="0"/>
            </a:endParaRPr>
          </a:p>
        </p:txBody>
      </p:sp>
      <p:pic>
        <p:nvPicPr>
          <p:cNvPr id="4" name="Picture 3">
            <a:extLst>
              <a:ext uri="{FF2B5EF4-FFF2-40B4-BE49-F238E27FC236}">
                <a16:creationId xmlns:a16="http://schemas.microsoft.com/office/drawing/2014/main" id="{9521783E-C584-0B64-E266-16603B17D5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2702" y="64652"/>
            <a:ext cx="1881186" cy="906871"/>
          </a:xfrm>
          <a:prstGeom prst="rect">
            <a:avLst/>
          </a:prstGeom>
        </p:spPr>
      </p:pic>
      <p:pic>
        <p:nvPicPr>
          <p:cNvPr id="5" name="Picture 4">
            <a:extLst>
              <a:ext uri="{FF2B5EF4-FFF2-40B4-BE49-F238E27FC236}">
                <a16:creationId xmlns:a16="http://schemas.microsoft.com/office/drawing/2014/main" id="{D80704AD-12EF-9FAD-D8CC-E8D6E9D8A1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900" y="127828"/>
            <a:ext cx="1095374" cy="797671"/>
          </a:xfrm>
          <a:prstGeom prst="rect">
            <a:avLst/>
          </a:prstGeom>
        </p:spPr>
      </p:pic>
    </p:spTree>
    <p:extLst>
      <p:ext uri="{BB962C8B-B14F-4D97-AF65-F5344CB8AC3E}">
        <p14:creationId xmlns:p14="http://schemas.microsoft.com/office/powerpoint/2010/main" val="1461887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650449" y="1075835"/>
            <a:ext cx="10498318" cy="5905304"/>
          </a:xfrm>
          <a:prstGeom prst="rect">
            <a:avLst/>
          </a:prstGeom>
        </p:spPr>
      </p:pic>
      <p:sp>
        <p:nvSpPr>
          <p:cNvPr id="4" name="Rectangle 3">
            <a:extLst>
              <a:ext uri="{FF2B5EF4-FFF2-40B4-BE49-F238E27FC236}">
                <a16:creationId xmlns:a16="http://schemas.microsoft.com/office/drawing/2014/main" id="{CA17B3E7-0816-C9EA-10A3-7D6463FCF1B6}"/>
              </a:ext>
            </a:extLst>
          </p:cNvPr>
          <p:cNvSpPr/>
          <p:nvPr/>
        </p:nvSpPr>
        <p:spPr>
          <a:xfrm>
            <a:off x="2166938" y="55416"/>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MySQL database Creation</a:t>
            </a:r>
            <a:endParaRPr lang="en-IN" sz="3200" dirty="0">
              <a:latin typeface="Bookman Old Style" panose="02050604050505020204" pitchFamily="18" charset="0"/>
            </a:endParaRPr>
          </a:p>
        </p:txBody>
      </p:sp>
      <p:pic>
        <p:nvPicPr>
          <p:cNvPr id="5" name="Picture 4">
            <a:extLst>
              <a:ext uri="{FF2B5EF4-FFF2-40B4-BE49-F238E27FC236}">
                <a16:creationId xmlns:a16="http://schemas.microsoft.com/office/drawing/2014/main" id="{9521783E-C584-0B64-E266-16603B17D5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2702" y="55416"/>
            <a:ext cx="1881186" cy="906871"/>
          </a:xfrm>
          <a:prstGeom prst="rect">
            <a:avLst/>
          </a:prstGeom>
        </p:spPr>
      </p:pic>
      <p:pic>
        <p:nvPicPr>
          <p:cNvPr id="6" name="Picture 5">
            <a:extLst>
              <a:ext uri="{FF2B5EF4-FFF2-40B4-BE49-F238E27FC236}">
                <a16:creationId xmlns:a16="http://schemas.microsoft.com/office/drawing/2014/main" id="{D80704AD-12EF-9FAD-D8CC-E8D6E9D8A1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900" y="118592"/>
            <a:ext cx="1095374" cy="797671"/>
          </a:xfrm>
          <a:prstGeom prst="rect">
            <a:avLst/>
          </a:prstGeom>
        </p:spPr>
      </p:pic>
    </p:spTree>
    <p:extLst>
      <p:ext uri="{BB962C8B-B14F-4D97-AF65-F5344CB8AC3E}">
        <p14:creationId xmlns:p14="http://schemas.microsoft.com/office/powerpoint/2010/main" val="3870040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17B3E7-0816-C9EA-10A3-7D6463FCF1B6}"/>
              </a:ext>
            </a:extLst>
          </p:cNvPr>
          <p:cNvSpPr/>
          <p:nvPr/>
        </p:nvSpPr>
        <p:spPr>
          <a:xfrm>
            <a:off x="2271713" y="10920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Repository Interface</a:t>
            </a:r>
            <a:endParaRPr lang="en-IN" sz="3200" dirty="0">
              <a:latin typeface="Bookman Old Style" panose="02050604050505020204" pitchFamily="18" charset="0"/>
            </a:endParaRPr>
          </a:p>
        </p:txBody>
      </p:sp>
      <p:pic>
        <p:nvPicPr>
          <p:cNvPr id="3" name="Picture 2">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4" name="Picture 3">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5" name="Picture 4"/>
          <p:cNvPicPr>
            <a:picLocks noChangeAspect="1"/>
          </p:cNvPicPr>
          <p:nvPr/>
        </p:nvPicPr>
        <p:blipFill>
          <a:blip r:embed="rId4"/>
          <a:stretch>
            <a:fillRect/>
          </a:stretch>
        </p:blipFill>
        <p:spPr>
          <a:xfrm>
            <a:off x="1139806" y="1045416"/>
            <a:ext cx="9973489" cy="5610087"/>
          </a:xfrm>
          <a:prstGeom prst="rect">
            <a:avLst/>
          </a:prstGeom>
        </p:spPr>
      </p:pic>
    </p:spTree>
    <p:extLst>
      <p:ext uri="{BB962C8B-B14F-4D97-AF65-F5344CB8AC3E}">
        <p14:creationId xmlns:p14="http://schemas.microsoft.com/office/powerpoint/2010/main" val="38702083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smtClean="0">
                <a:latin typeface="Bookman Old Style" panose="02050604050505020204" pitchFamily="18" charset="0"/>
              </a:rPr>
              <a:t>Service</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3" name="Picture 2"/>
          <p:cNvPicPr>
            <a:picLocks noChangeAspect="1"/>
          </p:cNvPicPr>
          <p:nvPr/>
        </p:nvPicPr>
        <p:blipFill>
          <a:blip r:embed="rId4"/>
          <a:stretch>
            <a:fillRect/>
          </a:stretch>
        </p:blipFill>
        <p:spPr>
          <a:xfrm>
            <a:off x="1013428" y="1132016"/>
            <a:ext cx="9715893" cy="5465190"/>
          </a:xfrm>
          <a:prstGeom prst="rect">
            <a:avLst/>
          </a:prstGeom>
        </p:spPr>
      </p:pic>
    </p:spTree>
    <p:extLst>
      <p:ext uri="{BB962C8B-B14F-4D97-AF65-F5344CB8AC3E}">
        <p14:creationId xmlns:p14="http://schemas.microsoft.com/office/powerpoint/2010/main" val="32769692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smtClean="0">
                <a:latin typeface="Bookman Old Style" panose="02050604050505020204" pitchFamily="18" charset="0"/>
              </a:rPr>
              <a:t>Service</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2" name="Picture 1"/>
          <p:cNvPicPr>
            <a:picLocks noChangeAspect="1"/>
          </p:cNvPicPr>
          <p:nvPr/>
        </p:nvPicPr>
        <p:blipFill>
          <a:blip r:embed="rId4"/>
          <a:stretch>
            <a:fillRect/>
          </a:stretch>
        </p:blipFill>
        <p:spPr>
          <a:xfrm>
            <a:off x="1303594" y="1258181"/>
            <a:ext cx="9705342" cy="5459255"/>
          </a:xfrm>
          <a:prstGeom prst="rect">
            <a:avLst/>
          </a:prstGeom>
        </p:spPr>
      </p:pic>
    </p:spTree>
    <p:extLst>
      <p:ext uri="{BB962C8B-B14F-4D97-AF65-F5344CB8AC3E}">
        <p14:creationId xmlns:p14="http://schemas.microsoft.com/office/powerpoint/2010/main" val="22091482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smtClean="0">
                <a:latin typeface="Bookman Old Style" panose="02050604050505020204" pitchFamily="18" charset="0"/>
              </a:rPr>
              <a:t>Service</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pic>
        <p:nvPicPr>
          <p:cNvPr id="3" name="Picture 2"/>
          <p:cNvPicPr>
            <a:picLocks noChangeAspect="1"/>
          </p:cNvPicPr>
          <p:nvPr/>
        </p:nvPicPr>
        <p:blipFill>
          <a:blip r:embed="rId4"/>
          <a:stretch>
            <a:fillRect/>
          </a:stretch>
        </p:blipFill>
        <p:spPr>
          <a:xfrm>
            <a:off x="1112362" y="1175405"/>
            <a:ext cx="10102391" cy="5682595"/>
          </a:xfrm>
          <a:prstGeom prst="rect">
            <a:avLst/>
          </a:prstGeom>
        </p:spPr>
      </p:pic>
    </p:spTree>
    <p:extLst>
      <p:ext uri="{BB962C8B-B14F-4D97-AF65-F5344CB8AC3E}">
        <p14:creationId xmlns:p14="http://schemas.microsoft.com/office/powerpoint/2010/main" val="7631459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22614" y="1275524"/>
            <a:ext cx="9505686" cy="5346949"/>
          </a:xfrm>
          <a:prstGeom prst="rect">
            <a:avLst/>
          </a:prstGeom>
        </p:spPr>
      </p:pic>
      <p:sp>
        <p:nvSpPr>
          <p:cNvPr id="3" name="Rectangle 2">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latin typeface="Baskerville Old Face" panose="02020602080505020303" pitchFamily="18" charset="0"/>
              </a:rPr>
              <a:t>Controller – request Management</a:t>
            </a:r>
            <a:endParaRPr lang="en-IN" sz="3200" dirty="0">
              <a:latin typeface="Bookman Old Style" panose="02050604050505020204" pitchFamily="18" charset="0"/>
            </a:endParaRPr>
          </a:p>
        </p:txBody>
      </p:sp>
      <p:pic>
        <p:nvPicPr>
          <p:cNvPr id="4" name="Picture 3">
            <a:extLst>
              <a:ext uri="{FF2B5EF4-FFF2-40B4-BE49-F238E27FC236}">
                <a16:creationId xmlns:a16="http://schemas.microsoft.com/office/drawing/2014/main" id="{9521783E-C584-0B64-E266-16603B17D5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5" name="Picture 4">
            <a:extLst>
              <a:ext uri="{FF2B5EF4-FFF2-40B4-BE49-F238E27FC236}">
                <a16:creationId xmlns:a16="http://schemas.microsoft.com/office/drawing/2014/main" id="{D80704AD-12EF-9FAD-D8CC-E8D6E9D8A1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Tree>
    <p:extLst>
      <p:ext uri="{BB962C8B-B14F-4D97-AF65-F5344CB8AC3E}">
        <p14:creationId xmlns:p14="http://schemas.microsoft.com/office/powerpoint/2010/main" val="4027438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20800" y="901700"/>
            <a:ext cx="9715500" cy="5464969"/>
          </a:xfrm>
          <a:prstGeom prst="rect">
            <a:avLst/>
          </a:prstGeom>
        </p:spPr>
      </p:pic>
    </p:spTree>
    <p:extLst>
      <p:ext uri="{BB962C8B-B14F-4D97-AF65-F5344CB8AC3E}">
        <p14:creationId xmlns:p14="http://schemas.microsoft.com/office/powerpoint/2010/main" val="4233886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797671"/>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dirty="0" smtClean="0">
                <a:latin typeface="Bookman Old Style" panose="02050604050505020204" pitchFamily="18" charset="0"/>
              </a:rPr>
              <a:t>Controller</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Tree>
    <p:extLst>
      <p:ext uri="{BB962C8B-B14F-4D97-AF65-F5344CB8AC3E}">
        <p14:creationId xmlns:p14="http://schemas.microsoft.com/office/powerpoint/2010/main" val="5234143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17B3E7-0816-C9EA-10A3-7D6463FCF1B6}"/>
              </a:ext>
            </a:extLst>
          </p:cNvPr>
          <p:cNvSpPr/>
          <p:nvPr/>
        </p:nvSpPr>
        <p:spPr>
          <a:xfrm>
            <a:off x="2166938" y="0"/>
            <a:ext cx="7277100" cy="1133475"/>
          </a:xfrm>
          <a:prstGeom prst="rect">
            <a:avLst/>
          </a:prstGeom>
          <a:solidFill>
            <a:srgbClr val="7395D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Baskerville Old Face" panose="02020602080505020303" pitchFamily="18" charset="0"/>
              </a:rPr>
              <a:t>Performing CURD Operation with Spring </a:t>
            </a:r>
            <a:r>
              <a:rPr lang="en-US" sz="3200" dirty="0" smtClean="0">
                <a:solidFill>
                  <a:schemeClr val="tx1"/>
                </a:solidFill>
                <a:latin typeface="Baskerville Old Face" panose="02020602080505020303" pitchFamily="18" charset="0"/>
              </a:rPr>
              <a:t>JPA</a:t>
            </a:r>
            <a:endParaRPr lang="en-IN" sz="3200" dirty="0">
              <a:latin typeface="Bookman Old Style" panose="02050604050505020204" pitchFamily="18" charset="0"/>
            </a:endParaRPr>
          </a:p>
        </p:txBody>
      </p:sp>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pic>
        <p:nvPicPr>
          <p:cNvPr id="12" name="Picture 11">
            <a:extLst>
              <a:ext uri="{FF2B5EF4-FFF2-40B4-BE49-F238E27FC236}">
                <a16:creationId xmlns:a16="http://schemas.microsoft.com/office/drawing/2014/main" id="{D80704AD-12EF-9FAD-D8CC-E8D6E9D8A1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 y="63176"/>
            <a:ext cx="1095374" cy="797671"/>
          </a:xfrm>
          <a:prstGeom prst="rect">
            <a:avLst/>
          </a:prstGeom>
        </p:spPr>
      </p:pic>
      <p:sp>
        <p:nvSpPr>
          <p:cNvPr id="3" name="Rectangle 1"/>
          <p:cNvSpPr>
            <a:spLocks noChangeArrowheads="1"/>
          </p:cNvSpPr>
          <p:nvPr/>
        </p:nvSpPr>
        <p:spPr bwMode="auto">
          <a:xfrm>
            <a:off x="342900" y="1435617"/>
            <a:ext cx="10971645" cy="53860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2"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3. Performing CRUD Operations:</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Inject the repository into your service or controller and use its methods:</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Create (Save):</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Use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save()</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to persist a new entity or update an existing one.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newEntity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 = </a:t>
            </a:r>
            <a:r>
              <a:rPr kumimoji="0" lang="en-US" altLang="en-US" sz="1400" b="0" i="0" u="none" strike="noStrike" cap="none" normalizeH="0" baseline="0" dirty="0" smtClean="0">
                <a:ln>
                  <a:noFill/>
                </a:ln>
                <a:solidFill>
                  <a:srgbClr val="9334E6"/>
                </a:solidFill>
                <a:effectLst/>
                <a:latin typeface="Courier New" panose="02070309020205020404" pitchFamily="49" charset="0"/>
                <a:cs typeface="Courier New" panose="02070309020205020404" pitchFamily="49" charset="0"/>
              </a:rPr>
              <a:t>new</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newEntity.setName</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smtClean="0">
                <a:ln>
                  <a:noFill/>
                </a:ln>
                <a:solidFill>
                  <a:srgbClr val="188038"/>
                </a:solidFill>
                <a:effectLst/>
                <a:latin typeface="Courier New" panose="02070309020205020404" pitchFamily="49" charset="0"/>
                <a:cs typeface="Courier New" panose="02070309020205020404" pitchFamily="49" charset="0"/>
              </a:rPr>
              <a:t>"New Item"</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myEntityRepository.save</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newEntity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1D35"/>
              </a:solidFill>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cs typeface="Arial" panose="020B0604020202020204" pitchFamily="34" charset="0"/>
              </a:rPr>
              <a:t>Read (Retrieve):</a:t>
            </a:r>
            <a:endParaRPr kumimoji="0" lang="en-US" altLang="en-US" sz="20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rPr>
              <a:t>Find by ID: </a:t>
            </a:r>
            <a:r>
              <a:rPr kumimoji="0" lang="en-US" altLang="en-US" sz="14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findById</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(id)</a:t>
            </a:r>
            <a:r>
              <a:rPr kumimoji="0" lang="en-US" altLang="en-US" sz="2000" b="0" i="0" u="none" strike="noStrike" cap="none" normalizeH="0" baseline="0" dirty="0" smtClean="0">
                <a:ln>
                  <a:noFill/>
                </a:ln>
                <a:solidFill>
                  <a:schemeClr val="tx1"/>
                </a:solidFill>
                <a:effectLst/>
              </a:rPr>
              <a:t> returns an </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Optional&lt;</a:t>
            </a:r>
            <a:r>
              <a:rPr kumimoji="0" lang="en-US" altLang="en-US" sz="14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MyEntity</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rPr>
              <a:t>Find all: </a:t>
            </a:r>
            <a:r>
              <a:rPr kumimoji="0" lang="en-US" altLang="en-US" sz="14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findAll</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a:t>
            </a:r>
            <a:r>
              <a:rPr kumimoji="0" lang="en-US" altLang="en-US" sz="2000" b="0" i="0" u="none" strike="noStrike" cap="none" normalizeH="0" baseline="0" dirty="0" smtClean="0">
                <a:ln>
                  <a:noFill/>
                </a:ln>
                <a:solidFill>
                  <a:schemeClr val="tx1"/>
                </a:solidFill>
                <a:effectLst/>
              </a:rPr>
              <a:t> returns a </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List&lt;</a:t>
            </a:r>
            <a:r>
              <a:rPr kumimoji="0" lang="en-US" altLang="en-US" sz="14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MyEntity</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a:t>
            </a:r>
            <a:r>
              <a:rPr kumimoji="0" lang="en-US" altLang="en-US" sz="20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rPr>
              <a:t>Custom finders: Use methods defined in your repository (e.g., </a:t>
            </a:r>
            <a:r>
              <a:rPr kumimoji="0" lang="en-US" altLang="en-US" sz="14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findByName</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("Item Name")</a:t>
            </a:r>
            <a:r>
              <a:rPr kumimoji="0" lang="en-US" altLang="en-US" sz="20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1D35"/>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400" dirty="0">
              <a:solidFill>
                <a:srgbClr val="001D35"/>
              </a:solidFill>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1D35"/>
                </a:solidFill>
                <a:effectLst/>
                <a:cs typeface="Arial" panose="020B0604020202020204" pitchFamily="34" charset="0"/>
              </a:rPr>
              <a:t>Java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Optional&lt;</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&gt;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foundEntity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 =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myEntityRepository.findById</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smtClean="0">
                <a:ln>
                  <a:noFill/>
                </a:ln>
                <a:solidFill>
                  <a:srgbClr val="B45908"/>
                </a:solidFill>
                <a:effectLst/>
                <a:latin typeface="Courier New" panose="02070309020205020404" pitchFamily="49" charset="0"/>
                <a:cs typeface="Courier New" panose="02070309020205020404" pitchFamily="49" charset="0"/>
              </a:rPr>
              <a:t>1L</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List&lt;</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&gt;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allEntities</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 =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myEntityRepository.findAll</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Update:</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Modify an existing entity and then call </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save()</a:t>
            </a:r>
            <a:r>
              <a:rPr kumimoji="0" lang="en-US" altLang="en-US" sz="2000" b="0" i="0" u="none" strike="noStrike" cap="none" normalizeH="0" baseline="0" dirty="0" smtClean="0">
                <a:ln>
                  <a:noFill/>
                </a:ln>
                <a:solidFill>
                  <a:srgbClr val="001D35"/>
                </a:solidFill>
                <a:effectLst/>
                <a:latin typeface="Arial" panose="020B0604020202020204" pitchFamily="34" charset="0"/>
                <a:cs typeface="Arial" panose="020B0604020202020204" pitchFamily="34" charset="0"/>
              </a:rPr>
              <a:t> again.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Optional&lt;</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&gt;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entityToUpdate</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 = </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myEntityRepository.findById</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smtClean="0">
                <a:ln>
                  <a:noFill/>
                </a:ln>
                <a:solidFill>
                  <a:srgbClr val="B45908"/>
                </a:solidFill>
                <a:effectLst/>
                <a:latin typeface="Courier New" panose="02070309020205020404" pitchFamily="49" charset="0"/>
                <a:cs typeface="Courier New" panose="02070309020205020404" pitchFamily="49" charset="0"/>
              </a:rPr>
              <a:t>1L</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entityToUpdate.ifPresent</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(entity -&gt; {</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entity.setName</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smtClean="0">
                <a:ln>
                  <a:noFill/>
                </a:ln>
                <a:solidFill>
                  <a:srgbClr val="188038"/>
                </a:solidFill>
                <a:effectLst/>
                <a:latin typeface="Courier New" panose="02070309020205020404" pitchFamily="49" charset="0"/>
                <a:cs typeface="Courier New" panose="02070309020205020404" pitchFamily="49" charset="0"/>
              </a:rPr>
              <a:t>"Updated Name"</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myEntityRepository.save</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(entity);</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001D35"/>
                </a:solidFill>
                <a:effectLst/>
                <a:cs typeface="Arial" panose="020B0604020202020204" pitchFamily="34" charset="0"/>
              </a:rPr>
              <a:t>Delete:</a:t>
            </a:r>
            <a:endParaRPr kumimoji="0" lang="en-US" altLang="en-US" sz="20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rPr>
              <a:t>Delete by ID: </a:t>
            </a:r>
            <a:r>
              <a:rPr kumimoji="0" lang="en-US" altLang="en-US" sz="14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deleteById</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(id)</a:t>
            </a:r>
            <a:r>
              <a:rPr kumimoji="0" lang="en-US" altLang="en-US" sz="20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rPr>
              <a:t>Delete an entity: </a:t>
            </a:r>
            <a:r>
              <a:rPr kumimoji="0" lang="en-US" altLang="en-US" sz="1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delete(entity)</a:t>
            </a:r>
            <a:r>
              <a:rPr kumimoji="0" lang="en-US" altLang="en-US" sz="20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rgbClr val="001D35"/>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myEntityRepository.deleteById</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smtClean="0">
                <a:ln>
                  <a:noFill/>
                </a:ln>
                <a:solidFill>
                  <a:srgbClr val="B45908"/>
                </a:solidFill>
                <a:effectLst/>
                <a:latin typeface="Courier New" panose="02070309020205020404" pitchFamily="49" charset="0"/>
                <a:cs typeface="Courier New" panose="02070309020205020404" pitchFamily="49" charset="0"/>
              </a:rPr>
              <a:t>1L</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b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b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myEntityRepository.delete</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r>
              <a:rPr kumimoji="0" lang="en-US" altLang="en-US" sz="1400" b="0" i="0" u="none" strike="noStrike" cap="none" normalizeH="0" baseline="0" dirty="0" err="1" smtClean="0">
                <a:ln>
                  <a:noFill/>
                </a:ln>
                <a:solidFill>
                  <a:srgbClr val="001D35"/>
                </a:solidFill>
                <a:effectLst/>
                <a:latin typeface="Courier New" panose="02070309020205020404" pitchFamily="49" charset="0"/>
                <a:cs typeface="Courier New" panose="02070309020205020404" pitchFamily="49" charset="0"/>
              </a:rPr>
              <a:t>existingEntity</a:t>
            </a:r>
            <a:r>
              <a:rPr kumimoji="0" lang="en-US" altLang="en-US" sz="1400" b="0" i="0" u="none" strike="noStrike" cap="none" normalizeH="0" baseline="0" dirty="0" smtClean="0">
                <a:ln>
                  <a:noFill/>
                </a:ln>
                <a:solidFill>
                  <a:srgbClr val="001D35"/>
                </a:solidFill>
                <a:effectLst/>
                <a:latin typeface="Courier New" panose="02070309020205020404" pitchFamily="49" charset="0"/>
                <a:cs typeface="Courier New" panose="02070309020205020404" pitchFamily="49" charset="0"/>
              </a:rPr>
              <a:t>);</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5719535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521783E-C584-0B64-E266-16603B17D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2702" y="0"/>
            <a:ext cx="1881186" cy="906871"/>
          </a:xfrm>
          <a:prstGeom prst="rect">
            <a:avLst/>
          </a:prstGeom>
        </p:spPr>
      </p:pic>
      <p:sp>
        <p:nvSpPr>
          <p:cNvPr id="2" name="Rectangle 1"/>
          <p:cNvSpPr/>
          <p:nvPr/>
        </p:nvSpPr>
        <p:spPr>
          <a:xfrm>
            <a:off x="4512587" y="2967335"/>
            <a:ext cx="3166829" cy="1754326"/>
          </a:xfrm>
          <a:prstGeom prst="rect">
            <a:avLst/>
          </a:prstGeom>
          <a:noFill/>
        </p:spPr>
        <p:txBody>
          <a:bodyPr wrap="none" lIns="91440" tIns="45720" rIns="91440" bIns="45720">
            <a:spAutoFit/>
          </a:bodyPr>
          <a:lstStyle/>
          <a:p>
            <a:pPr algn="ctr"/>
            <a:r>
              <a:rPr lang="en-US" sz="5400" b="1" cap="none" spc="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Day </a:t>
            </a:r>
            <a:r>
              <a:rPr lang="en-US" sz="5400" b="1"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7 </a:t>
            </a:r>
            <a:r>
              <a:rPr lang="en-US" sz="5400" b="1" cap="none" spc="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End</a:t>
            </a:r>
            <a:endParaRPr lang="en-US" sz="5400" b="1" cap="none" spc="0"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a:p>
            <a:pPr algn="ctr"/>
            <a:r>
              <a:rPr lang="en-US" sz="5400" b="1" dirty="0" smtClean="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9726053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2670</TotalTime>
  <Words>364</Words>
  <Application>Microsoft Office PowerPoint</Application>
  <PresentationFormat>Widescreen</PresentationFormat>
  <Paragraphs>138</Paragraphs>
  <Slides>21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Baskerville Old Face</vt:lpstr>
      <vt:lpstr>Book Antiqua</vt:lpstr>
      <vt:lpstr>Bookman Old Style</vt:lpstr>
      <vt:lpstr>Calibri</vt:lpstr>
      <vt:lpstr>Calibri Light</vt:lpstr>
      <vt:lpstr>Courier New</vt:lpstr>
      <vt:lpstr>source-serif-pro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nandhusri1107@outlook.com</dc:creator>
  <cp:lastModifiedBy>DELL</cp:lastModifiedBy>
  <cp:revision>88</cp:revision>
  <dcterms:created xsi:type="dcterms:W3CDTF">2025-08-10T06:18:18Z</dcterms:created>
  <dcterms:modified xsi:type="dcterms:W3CDTF">2025-09-29T00:20:53Z</dcterms:modified>
</cp:coreProperties>
</file>